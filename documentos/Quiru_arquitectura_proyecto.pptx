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F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502920"/>
            <a:ext cx="2057400" cy="2016389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85800" y="685800"/>
            <a:ext cx="2240280" cy="310896"/>
          </a:xfrm>
          <a:prstGeom prst="roundRect">
            <a:avLst/>
          </a:prstGeom>
          <a:solidFill>
            <a:srgbClr val="DCF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22C7A6"/>
                </a:solidFill>
                <a:latin typeface="Aptos"/>
              </a:rPr>
              <a:t>Vue + Firebase + UX cl?nico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34440"/>
            <a:ext cx="4297680" cy="594360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4400" b="1">
                <a:solidFill>
                  <a:srgbClr val="123C3A"/>
                </a:solidFill>
                <a:latin typeface="Aptos Display"/>
              </a:rPr>
              <a:t>Quiru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874519"/>
            <a:ext cx="5120640" cy="475488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2600" b="1">
                <a:solidFill>
                  <a:srgbClr val="15957F"/>
                </a:solidFill>
                <a:latin typeface="Aptos Display"/>
              </a:rPr>
              <a:t>Arquitectura del proyecto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06040"/>
            <a:ext cx="5120640" cy="731520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lnSpc>
                <a:spcPct val="105000"/>
              </a:lnSpc>
              <a:defRPr sz="1400">
                <a:solidFill>
                  <a:srgbClr val="51706D"/>
                </a:solidFill>
                <a:latin typeface="Aptos"/>
              </a:defRPr>
            </a:pPr>
            <a:r>
              <a:t>Deck generado desde el c?digo local, perfiles de Agentes y referencia p?blica de Figma.</a:t>
            </a:r>
          </a:p>
          <a:p>
            <a:pPr>
              <a:lnSpc>
                <a:spcPct val="105000"/>
              </a:lnSpc>
              <a:defRPr sz="1400">
                <a:solidFill>
                  <a:srgbClr val="51706D"/>
                </a:solidFill>
                <a:latin typeface="Aptos"/>
              </a:defRPr>
            </a:pPr>
            <a:r>
              <a:t>Fecha de an?lisis: 19 de mayo de 2026.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794760"/>
            <a:ext cx="27889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3959352"/>
            <a:ext cx="2386584" cy="256032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350" b="1">
                <a:solidFill>
                  <a:srgbClr val="123C3A"/>
                </a:solidFill>
                <a:latin typeface="Aptos"/>
              </a:rPr>
              <a:t>Perfiles aplicados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4325112"/>
            <a:ext cx="2386584" cy="393191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lnSpc>
                <a:spcPct val="108000"/>
              </a:lnSpc>
              <a:defRPr sz="1080">
                <a:solidFill>
                  <a:srgbClr val="51706D"/>
                </a:solidFill>
                <a:latin typeface="Aptos"/>
              </a:defRPr>
            </a:pPr>
            <a:r>
              <a:t>Frontend Vue Senior</a:t>
            </a:r>
          </a:p>
          <a:p>
            <a:pPr>
              <a:lnSpc>
                <a:spcPct val="108000"/>
              </a:lnSpc>
              <a:defRPr sz="1080">
                <a:solidFill>
                  <a:srgbClr val="51706D"/>
                </a:solidFill>
                <a:latin typeface="Aptos"/>
              </a:defRPr>
            </a:pPr>
            <a:r>
              <a:t>Product Designer UX/UI</a:t>
            </a:r>
          </a:p>
          <a:p>
            <a:pPr>
              <a:lnSpc>
                <a:spcPct val="108000"/>
              </a:lnSpc>
              <a:defRPr sz="1080">
                <a:solidFill>
                  <a:srgbClr val="51706D"/>
                </a:solidFill>
                <a:latin typeface="Aptos"/>
              </a:defRPr>
            </a:pPr>
            <a:r>
              <a:t>Centers Service Leader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49039" y="3794760"/>
            <a:ext cx="27889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50207" y="3959352"/>
            <a:ext cx="2386584" cy="256032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350" b="1">
                <a:solidFill>
                  <a:srgbClr val="123C3A"/>
                </a:solidFill>
                <a:latin typeface="Aptos"/>
              </a:rPr>
              <a:t>Fuentes principales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50207" y="4325112"/>
            <a:ext cx="2386584" cy="393191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lnSpc>
                <a:spcPct val="108000"/>
              </a:lnSpc>
              <a:defRPr sz="1080">
                <a:solidFill>
                  <a:srgbClr val="51706D"/>
                </a:solidFill>
                <a:latin typeface="Aptos"/>
              </a:defRPr>
            </a:pPr>
            <a:r>
              <a:t>src/main.js, router.js</a:t>
            </a:r>
          </a:p>
          <a:p>
            <a:pPr>
              <a:lnSpc>
                <a:spcPct val="108000"/>
              </a:lnSpc>
              <a:defRPr sz="1080">
                <a:solidFill>
                  <a:srgbClr val="51706D"/>
                </a:solidFill>
                <a:latin typeface="Aptos"/>
              </a:defRPr>
            </a:pPr>
            <a:r>
              <a:t>src/store/*.js</a:t>
            </a:r>
          </a:p>
          <a:p>
            <a:pPr>
              <a:lnSpc>
                <a:spcPct val="108000"/>
              </a:lnSpc>
              <a:defRPr sz="1080">
                <a:solidFill>
                  <a:srgbClr val="51706D"/>
                </a:solidFill>
                <a:latin typeface="Aptos"/>
              </a:defRPr>
            </a:pPr>
            <a:r>
              <a:t>Figma oEmbed: Quiru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66560" y="3794760"/>
            <a:ext cx="27889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67728" y="3959352"/>
            <a:ext cx="2386584" cy="256032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350" b="1">
                <a:solidFill>
                  <a:srgbClr val="123C3A"/>
                </a:solidFill>
                <a:latin typeface="Aptos"/>
              </a:rPr>
              <a:t>Enfoque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4325112"/>
            <a:ext cx="2386584" cy="393191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lnSpc>
                <a:spcPct val="108000"/>
              </a:lnSpc>
              <a:defRPr sz="1080">
                <a:solidFill>
                  <a:srgbClr val="51706D"/>
                </a:solidFill>
                <a:latin typeface="Aptos"/>
              </a:defRPr>
            </a:pPr>
            <a:r>
              <a:t>Arquitectura actual</a:t>
            </a:r>
          </a:p>
          <a:p>
            <a:pPr>
              <a:lnSpc>
                <a:spcPct val="108000"/>
              </a:lnSpc>
              <a:defRPr sz="1080">
                <a:solidFill>
                  <a:srgbClr val="51706D"/>
                </a:solidFill>
                <a:latin typeface="Aptos"/>
              </a:defRPr>
            </a:pPr>
            <a:r>
              <a:t>Riesgos operativos</a:t>
            </a:r>
          </a:p>
          <a:p>
            <a:pPr>
              <a:lnSpc>
                <a:spcPct val="108000"/>
              </a:lnSpc>
              <a:defRPr sz="1080">
                <a:solidFill>
                  <a:srgbClr val="51706D"/>
                </a:solidFill>
                <a:latin typeface="Aptos"/>
              </a:defRPr>
            </a:pPr>
            <a:r>
              <a:t>Roadmap t?cnico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29400" y="1261872"/>
            <a:ext cx="47548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30568" y="1426463"/>
            <a:ext cx="4352544" cy="256032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350" b="1">
                <a:solidFill>
                  <a:srgbClr val="123C3A"/>
                </a:solidFill>
                <a:latin typeface="Aptos"/>
              </a:rPr>
              <a:t>Referencia Figma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0568" y="1792224"/>
            <a:ext cx="4352544" cy="1444751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lnSpc>
                <a:spcPct val="108000"/>
              </a:lnSpc>
              <a:defRPr sz="1080">
                <a:solidFill>
                  <a:srgbClr val="51706D"/>
                </a:solidFill>
                <a:latin typeface="Aptos"/>
              </a:defRPr>
            </a:pPr>
            <a:r>
              <a:t>T?tulo: Quiru</a:t>
            </a:r>
          </a:p>
          <a:p>
            <a:pPr>
              <a:lnSpc>
                <a:spcPct val="108000"/>
              </a:lnSpc>
              <a:defRPr sz="1080">
                <a:solidFill>
                  <a:srgbClr val="51706D"/>
                </a:solidFill>
                <a:latin typeface="Aptos"/>
              </a:defRPr>
            </a:pPr>
            <a:r>
              <a:t>Clave: H1NpvM8BQDP9N5inaqslgB</a:t>
            </a:r>
          </a:p>
          <a:p>
            <a:pPr>
              <a:lnSpc>
                <a:spcPct val="108000"/>
              </a:lnSpc>
              <a:defRPr sz="1080">
                <a:solidFill>
                  <a:srgbClr val="51706D"/>
                </a:solidFill>
                <a:latin typeface="Aptos"/>
              </a:defRPr>
            </a:pPr>
            <a:r>
              <a:t>Thumbnail no disponible en generaci?n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55664"/>
            <a:ext cx="3657600" cy="201168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850" b="0">
                <a:solidFill>
                  <a:srgbClr val="51706D"/>
                </a:solidFill>
                <a:latin typeface="Aptos"/>
              </a:rPr>
              <a:t>Quiru | Arquitectura del proyecto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437376"/>
            <a:ext cx="411480" cy="228600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>
                <a:solidFill>
                  <a:srgbClr val="15957F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F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7772400" cy="502920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3000" b="1">
                <a:solidFill>
                  <a:srgbClr val="123C3A"/>
                </a:solidFill>
                <a:latin typeface="Aptos Display"/>
              </a:rPr>
              <a:t>Lectura ejecutiva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8503920" cy="310896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250" b="0">
                <a:solidFill>
                  <a:srgbClr val="51706D"/>
                </a:solidFill>
                <a:latin typeface="Aptos"/>
              </a:rPr>
              <a:t>Qu? es Quiru desde su arquitectura actual.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16152"/>
            <a:ext cx="1005840" cy="64008"/>
          </a:xfrm>
          <a:prstGeom prst="roundRect">
            <a:avLst/>
          </a:prstGeom>
          <a:solidFill>
            <a:srgbClr val="22C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55664"/>
            <a:ext cx="3657600" cy="201168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850" b="0">
                <a:solidFill>
                  <a:srgbClr val="51706D"/>
                </a:solidFill>
                <a:latin typeface="Aptos"/>
              </a:rPr>
              <a:t>Quiru | Arquitectura del proyecto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37376"/>
            <a:ext cx="411480" cy="228600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>
                <a:solidFill>
                  <a:srgbClr val="15957F"/>
                </a:solidFill>
                <a:latin typeface="Aptos"/>
              </a:rPr>
              <a:t>02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320040"/>
            <a:ext cx="1325880" cy="129945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85800" y="1600200"/>
            <a:ext cx="3429000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764792"/>
            <a:ext cx="3026664" cy="256032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350" b="1">
                <a:solidFill>
                  <a:srgbClr val="123C3A"/>
                </a:solidFill>
                <a:latin typeface="Aptos"/>
              </a:rPr>
              <a:t>Producto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130552"/>
            <a:ext cx="3026664" cy="3136392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lnSpc>
                <a:spcPct val="108000"/>
              </a:lnSpc>
              <a:defRPr sz="1080">
                <a:solidFill>
                  <a:srgbClr val="51706D"/>
                </a:solidFill>
                <a:latin typeface="Aptos"/>
              </a:defRPr>
            </a:pPr>
            <a:r>
              <a:t>SPA web para operaci?n odontol?gica: pacientes, admisi?n, citas, odontograma, tratamientos, cotizaciones y documentos cl?nicos.</a:t>
            </a:r>
          </a:p>
          <a:p>
            <a:pPr>
              <a:lnSpc>
                <a:spcPct val="108000"/>
              </a:lnSpc>
              <a:defRPr sz="1080">
                <a:solidFill>
                  <a:srgbClr val="51706D"/>
                </a:solidFill>
                <a:latin typeface="Aptos"/>
              </a:defRPr>
            </a:pPr>
            <a:r>
              <a:t>El flujo principal est? alrededor de la atenci?n del paciente y el registro cl?nico odontol?gico.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1600200"/>
            <a:ext cx="3429000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8576" y="1764792"/>
            <a:ext cx="3026664" cy="256032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350" b="1">
                <a:solidFill>
                  <a:srgbClr val="123C3A"/>
                </a:solidFill>
                <a:latin typeface="Aptos"/>
              </a:rPr>
              <a:t>Arquitectura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2130552"/>
            <a:ext cx="3026664" cy="3136392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lnSpc>
                <a:spcPct val="108000"/>
              </a:lnSpc>
              <a:defRPr sz="1080">
                <a:solidFill>
                  <a:srgbClr val="51706D"/>
                </a:solidFill>
                <a:latin typeface="Aptos"/>
              </a:defRPr>
            </a:pPr>
            <a:r>
              <a:t>Frontend Vue 3 con Vite y Vue Router.</a:t>
            </a:r>
          </a:p>
          <a:p>
            <a:pPr>
              <a:lnSpc>
                <a:spcPct val="108000"/>
              </a:lnSpc>
              <a:defRPr sz="1080">
                <a:solidFill>
                  <a:srgbClr val="51706D"/>
                </a:solidFill>
                <a:latin typeface="Aptos"/>
              </a:defRPr>
            </a:pPr>
            <a:r>
              <a:t>Stores propios con refs de Vue como capa de estado/servicio.</a:t>
            </a:r>
          </a:p>
          <a:p>
            <a:pPr>
              <a:lnSpc>
                <a:spcPct val="108000"/>
              </a:lnSpc>
              <a:defRPr sz="1080">
                <a:solidFill>
                  <a:srgbClr val="51706D"/>
                </a:solidFill>
                <a:latin typeface="Aptos"/>
              </a:defRPr>
            </a:pPr>
            <a:r>
              <a:t>Firebase concentra autenticaci?n, datos en tiempo real, storage y hosting.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9016" y="1600200"/>
            <a:ext cx="3429000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0184" y="1764792"/>
            <a:ext cx="3026664" cy="256032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350" b="1">
                <a:solidFill>
                  <a:srgbClr val="123C3A"/>
                </a:solidFill>
                <a:latin typeface="Aptos"/>
              </a:rPr>
              <a:t>Operaci?n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0184" y="2130552"/>
            <a:ext cx="3026664" cy="3136392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lnSpc>
                <a:spcPct val="108000"/>
              </a:lnSpc>
              <a:defRPr sz="1080">
                <a:solidFill>
                  <a:srgbClr val="51706D"/>
                </a:solidFill>
                <a:latin typeface="Aptos"/>
              </a:defRPr>
            </a:pPr>
            <a:r>
              <a:t>Integraciones cr?ticas: Google Calendar, Web Speech/annyang, Cloud Function de correcci?n de texto, generaci?n PDF.</a:t>
            </a:r>
          </a:p>
          <a:p>
            <a:pPr>
              <a:lnSpc>
                <a:spcPct val="108000"/>
              </a:lnSpc>
              <a:defRPr sz="1080">
                <a:solidFill>
                  <a:srgbClr val="51706D"/>
                </a:solidFill>
                <a:latin typeface="Aptos"/>
              </a:defRPr>
            </a:pPr>
            <a:r>
              <a:t>La oportunidad principal es formalizar calidad, seguridad y separaci?n de responsabilidades.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" y="5577840"/>
            <a:ext cx="1234440" cy="310896"/>
          </a:xfrm>
          <a:prstGeom prst="roundRect">
            <a:avLst/>
          </a:prstGeom>
          <a:solidFill>
            <a:srgbClr val="DCF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22C7A6"/>
                </a:solidFill>
                <a:latin typeface="Aptos"/>
              </a:rPr>
              <a:t>Lectura Vue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31720" y="5577840"/>
            <a:ext cx="1417320" cy="310896"/>
          </a:xfrm>
          <a:prstGeom prst="roundRect">
            <a:avLst/>
          </a:prstGeom>
          <a:solidFill>
            <a:srgbClr val="EC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8D6B"/>
                </a:solidFill>
                <a:latin typeface="Aptos"/>
              </a:rPr>
              <a:t>Lectura UX/UI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86200" y="5577840"/>
            <a:ext cx="1143000" cy="310896"/>
          </a:xfrm>
          <a:prstGeom prst="roundRect">
            <a:avLst/>
          </a:prstGeom>
          <a:solidFill>
            <a:srgbClr val="DCF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22C7A6"/>
                </a:solidFill>
                <a:latin typeface="Aptos"/>
              </a:rPr>
              <a:t>Lectura CSL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F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7772400" cy="502920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3000" b="1">
                <a:solidFill>
                  <a:srgbClr val="123C3A"/>
                </a:solidFill>
                <a:latin typeface="Aptos Display"/>
              </a:rPr>
              <a:t>Stack tecnol?gico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8503920" cy="310896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250" b="0">
                <a:solidFill>
                  <a:srgbClr val="51706D"/>
                </a:solidFill>
                <a:latin typeface="Aptos"/>
              </a:rPr>
              <a:t>Dependencias y responsabilidades observadas en package.json y c?digo fuente.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16152"/>
            <a:ext cx="1005840" cy="64008"/>
          </a:xfrm>
          <a:prstGeom prst="roundRect">
            <a:avLst/>
          </a:prstGeom>
          <a:solidFill>
            <a:srgbClr val="22C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55664"/>
            <a:ext cx="3657600" cy="201168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850" b="0">
                <a:solidFill>
                  <a:srgbClr val="51706D"/>
                </a:solidFill>
                <a:latin typeface="Aptos"/>
              </a:rPr>
              <a:t>Quiru | Arquitectura del proyecto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37376"/>
            <a:ext cx="411480" cy="228600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>
                <a:solidFill>
                  <a:srgbClr val="15957F"/>
                </a:solidFill>
                <a:latin typeface="Aptos"/>
              </a:rPr>
              <a:t>03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320040"/>
            <a:ext cx="1325880" cy="129945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600200"/>
          <a:ext cx="1088136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926080"/>
                <a:gridCol w="6309360"/>
              </a:tblGrid>
              <a:tr h="59436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Capa</a:t>
                      </a:r>
                    </a:p>
                  </a:txBody>
                  <a:tcPr marL="76200" marR="76200" marT="50800" marB="50800">
                    <a:solidFill>
                      <a:srgbClr val="1595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Tecnolog?a</a:t>
                      </a:r>
                    </a:p>
                  </a:txBody>
                  <a:tcPr marL="76200" marR="76200" marT="50800" marB="50800">
                    <a:solidFill>
                      <a:srgbClr val="1595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Rol en Quiru</a:t>
                      </a:r>
                    </a:p>
                  </a:txBody>
                  <a:tcPr marL="76200" marR="76200" marT="50800" marB="50800">
                    <a:solidFill>
                      <a:srgbClr val="15957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980" b="0">
                          <a:solidFill>
                            <a:srgbClr val="123C3A"/>
                          </a:solidFill>
                          <a:latin typeface="Aptos"/>
                        </a:defRPr>
                      </a:pPr>
                      <a:r>
                        <a:t>Frontend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 b="0">
                          <a:solidFill>
                            <a:srgbClr val="123C3A"/>
                          </a:solidFill>
                          <a:latin typeface="Aptos"/>
                        </a:defRPr>
                      </a:pPr>
                      <a:r>
                        <a:t>Vue 3.2, Vite 2.9, Vue Router 4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 b="0">
                          <a:solidFill>
                            <a:srgbClr val="123C3A"/>
                          </a:solidFill>
                          <a:latin typeface="Aptos"/>
                        </a:defRPr>
                      </a:pPr>
                      <a:r>
                        <a:t>SPA, rutas p?blicas/protegidas, composici?n de vistas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980" b="0">
                          <a:solidFill>
                            <a:srgbClr val="123C3A"/>
                          </a:solidFill>
                          <a:latin typeface="Aptos"/>
                        </a:defRPr>
                      </a:pPr>
                      <a:r>
                        <a:t>UI</a:t>
                      </a:r>
                    </a:p>
                  </a:txBody>
                  <a:tcPr marL="76200" marR="76200" marT="50800" marB="50800">
                    <a:solidFill>
                      <a:srgbClr val="ECF8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 b="0">
                          <a:solidFill>
                            <a:srgbClr val="123C3A"/>
                          </a:solidFill>
                          <a:latin typeface="Aptos"/>
                        </a:defRPr>
                      </a:pPr>
                      <a:r>
                        <a:t>Bootstrap 5, BootstrapVue3, Sass, Bootstrap Icons</a:t>
                      </a:r>
                    </a:p>
                  </a:txBody>
                  <a:tcPr marL="76200" marR="76200" marT="50800" marB="50800">
                    <a:solidFill>
                      <a:srgbClr val="ECF8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 b="0">
                          <a:solidFill>
                            <a:srgbClr val="123C3A"/>
                          </a:solidFill>
                          <a:latin typeface="Aptos"/>
                        </a:defRPr>
                      </a:pPr>
                      <a:r>
                        <a:t>Sistema visual, formularios, modales, navegaci?n</a:t>
                      </a:r>
                    </a:p>
                  </a:txBody>
                  <a:tcPr marL="76200" marR="76200" marT="50800" marB="50800">
                    <a:solidFill>
                      <a:srgbClr val="ECF8F4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980" b="0">
                          <a:solidFill>
                            <a:srgbClr val="123C3A"/>
                          </a:solidFill>
                          <a:latin typeface="Aptos"/>
                        </a:defRPr>
                      </a:pPr>
                      <a:r>
                        <a:t>Backend as a Service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 b="0">
                          <a:solidFill>
                            <a:srgbClr val="123C3A"/>
                          </a:solidFill>
                          <a:latin typeface="Aptos"/>
                        </a:defRPr>
                      </a:pPr>
                      <a:r>
                        <a:t>Firebase Auth, Firestore, Storage, Hosting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 b="0">
                          <a:solidFill>
                            <a:srgbClr val="123C3A"/>
                          </a:solidFill>
                          <a:latin typeface="Aptos"/>
                        </a:defRPr>
                      </a:pPr>
                      <a:r>
                        <a:t>Identidad, datos cl?nicos, archivos, despliegue SPA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980" b="0">
                          <a:solidFill>
                            <a:srgbClr val="123C3A"/>
                          </a:solidFill>
                          <a:latin typeface="Aptos"/>
                        </a:defRPr>
                      </a:pPr>
                      <a:r>
                        <a:t>Agenda</a:t>
                      </a:r>
                    </a:p>
                  </a:txBody>
                  <a:tcPr marL="76200" marR="76200" marT="50800" marB="50800">
                    <a:solidFill>
                      <a:srgbClr val="ECF8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 b="0">
                          <a:solidFill>
                            <a:srgbClr val="123C3A"/>
                          </a:solidFill>
                          <a:latin typeface="Aptos"/>
                        </a:defRPr>
                      </a:pPr>
                      <a:r>
                        <a:t>FullCalendar, Google Calendar API</a:t>
                      </a:r>
                    </a:p>
                  </a:txBody>
                  <a:tcPr marL="76200" marR="76200" marT="50800" marB="50800">
                    <a:solidFill>
                      <a:srgbClr val="ECF8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 b="0">
                          <a:solidFill>
                            <a:srgbClr val="123C3A"/>
                          </a:solidFill>
                          <a:latin typeface="Aptos"/>
                        </a:defRPr>
                      </a:pPr>
                      <a:r>
                        <a:t>Citas, disponibilidad, sincronizaci?n externa</a:t>
                      </a:r>
                    </a:p>
                  </a:txBody>
                  <a:tcPr marL="76200" marR="76200" marT="50800" marB="50800">
                    <a:solidFill>
                      <a:srgbClr val="ECF8F4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980" b="0">
                          <a:solidFill>
                            <a:srgbClr val="123C3A"/>
                          </a:solidFill>
                          <a:latin typeface="Aptos"/>
                        </a:defRPr>
                      </a:pPr>
                      <a:r>
                        <a:t>Documentos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 b="0">
                          <a:solidFill>
                            <a:srgbClr val="123C3A"/>
                          </a:solidFill>
                          <a:latin typeface="Aptos"/>
                        </a:defRPr>
                      </a:pPr>
                      <a:r>
                        <a:t>jsPDF, autoTable, pdfmake/html-to-pdfmake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 b="0">
                          <a:solidFill>
                            <a:srgbClr val="123C3A"/>
                          </a:solidFill>
                          <a:latin typeface="Aptos"/>
                        </a:defRPr>
                      </a:pPr>
                      <a:r>
                        <a:t>Odontograma, historia cl?nica, reportes PDF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980" b="0">
                          <a:solidFill>
                            <a:srgbClr val="123C3A"/>
                          </a:solidFill>
                          <a:latin typeface="Aptos"/>
                        </a:defRPr>
                      </a:pPr>
                      <a:r>
                        <a:t>Voz</a:t>
                      </a:r>
                    </a:p>
                  </a:txBody>
                  <a:tcPr marL="76200" marR="76200" marT="50800" marB="50800">
                    <a:solidFill>
                      <a:srgbClr val="ECF8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 b="0">
                          <a:solidFill>
                            <a:srgbClr val="123C3A"/>
                          </a:solidFill>
                          <a:latin typeface="Aptos"/>
                        </a:defRPr>
                      </a:pPr>
                      <a:r>
                        <a:t>annyang + Web Speech API</a:t>
                      </a:r>
                    </a:p>
                  </a:txBody>
                  <a:tcPr marL="76200" marR="76200" marT="50800" marB="50800">
                    <a:solidFill>
                      <a:srgbClr val="ECF8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 b="0">
                          <a:solidFill>
                            <a:srgbClr val="123C3A"/>
                          </a:solidFill>
                          <a:latin typeface="Aptos"/>
                        </a:defRPr>
                      </a:pPr>
                      <a:r>
                        <a:t>Dictado de hallazgos odontol?gicos y respuestas habladas</a:t>
                      </a:r>
                    </a:p>
                  </a:txBody>
                  <a:tcPr marL="76200" marR="76200" marT="50800" marB="50800">
                    <a:solidFill>
                      <a:srgbClr val="ECF8F4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58368" y="5897880"/>
            <a:ext cx="1088136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6428232"/>
            <a:ext cx="10479024" cy="-246887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lnSpc>
                <a:spcPct val="108000"/>
              </a:lnSpc>
              <a:defRPr sz="1080">
                <a:solidFill>
                  <a:srgbClr val="51706D"/>
                </a:solidFill>
                <a:latin typeface="Aptos"/>
              </a:defRPr>
            </a:pPr>
            <a:r>
              <a:t>Decisi?n dominante: Quiru funciona como una SPA cliente-pesada conectada a servicios gestionados, con l?gica de dominio mayormente en stores del frontend.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F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7772400" cy="502920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3000" b="1">
                <a:solidFill>
                  <a:srgbClr val="123C3A"/>
                </a:solidFill>
                <a:latin typeface="Aptos Display"/>
              </a:rPr>
              <a:t>Arquitectura por capas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8503920" cy="310896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250" b="0">
                <a:solidFill>
                  <a:srgbClr val="51706D"/>
                </a:solidFill>
                <a:latin typeface="Aptos"/>
              </a:rPr>
              <a:t>Vista l?gica del runtime de la aplicaci?n.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16152"/>
            <a:ext cx="1005840" cy="64008"/>
          </a:xfrm>
          <a:prstGeom prst="roundRect">
            <a:avLst/>
          </a:prstGeom>
          <a:solidFill>
            <a:srgbClr val="22C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55664"/>
            <a:ext cx="3657600" cy="201168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850" b="0">
                <a:solidFill>
                  <a:srgbClr val="51706D"/>
                </a:solidFill>
                <a:latin typeface="Aptos"/>
              </a:rPr>
              <a:t>Quiru | Arquitectura del proyecto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37376"/>
            <a:ext cx="411480" cy="228600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>
                <a:solidFill>
                  <a:srgbClr val="15957F"/>
                </a:solidFill>
                <a:latin typeface="Aptos"/>
              </a:rPr>
              <a:t>04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320040"/>
            <a:ext cx="1325880" cy="129945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22960" y="1481328"/>
            <a:ext cx="2331720" cy="566928"/>
          </a:xfrm>
          <a:prstGeom prst="roundRect">
            <a:avLst/>
          </a:prstGeom>
          <a:solidFill>
            <a:srgbClr val="15957F"/>
          </a:solidFill>
          <a:ln w="12700">
            <a:solidFill>
              <a:srgbClr val="1595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80" b="1">
                <a:solidFill>
                  <a:srgbClr val="FFFFFF"/>
                </a:solidFill>
                <a:latin typeface="Aptos"/>
              </a:rPr>
              <a:t>Experiencia / Navegador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481328"/>
            <a:ext cx="75438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2011680"/>
            <a:ext cx="7141464" cy="-91439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lnSpc>
                <a:spcPct val="108000"/>
              </a:lnSpc>
              <a:defRPr sz="1080">
                <a:solidFill>
                  <a:srgbClr val="51706D"/>
                </a:solidFill>
                <a:latin typeface="Aptos"/>
              </a:defRPr>
            </a:pPr>
            <a:r>
              <a:t>Views Vue, componentes globales, dashboard shell, navegaci?n inferior, formularios y modales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84248" y="2084832"/>
            <a:ext cx="0" cy="237744"/>
          </a:xfrm>
          <a:prstGeom prst="line">
            <a:avLst/>
          </a:prstGeom>
          <a:ln w="25400">
            <a:solidFill>
              <a:srgbClr val="1595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22960" y="2322576"/>
            <a:ext cx="2331720" cy="566928"/>
          </a:xfrm>
          <a:prstGeom prst="roundRect">
            <a:avLst/>
          </a:prstGeom>
          <a:solidFill>
            <a:srgbClr val="22C7A6"/>
          </a:solidFill>
          <a:ln w="12700">
            <a:solidFill>
              <a:srgbClr val="1595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80" b="1">
                <a:solidFill>
                  <a:srgbClr val="FFFFFF"/>
                </a:solidFill>
                <a:latin typeface="Aptos"/>
              </a:rPr>
              <a:t>Routing y sesi?n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2322576"/>
            <a:ext cx="7543800" cy="566928"/>
          </a:xfrm>
          <a:prstGeom prst="roundRect">
            <a:avLst/>
          </a:prstGeom>
          <a:solidFill>
            <a:srgbClr val="ECF8F4"/>
          </a:solidFill>
          <a:ln w="12700">
            <a:solidFill>
              <a:srgbClr val="D5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30168" y="2852928"/>
            <a:ext cx="7141464" cy="-91439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lnSpc>
                <a:spcPct val="108000"/>
              </a:lnSpc>
              <a:defRPr sz="1080">
                <a:solidFill>
                  <a:srgbClr val="51706D"/>
                </a:solidFill>
                <a:latin typeface="Aptos"/>
              </a:defRPr>
            </a:pPr>
            <a:r>
              <a:t>Vue Router, rutas p?blicas/protegidas, guard con obtenerEstadoDeAutentificacion()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984248" y="2926080"/>
            <a:ext cx="0" cy="237744"/>
          </a:xfrm>
          <a:prstGeom prst="line">
            <a:avLst/>
          </a:prstGeom>
          <a:ln w="25400">
            <a:solidFill>
              <a:srgbClr val="1595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22960" y="3163824"/>
            <a:ext cx="2331720" cy="566928"/>
          </a:xfrm>
          <a:prstGeom prst="roundRect">
            <a:avLst/>
          </a:prstGeom>
          <a:solidFill>
            <a:srgbClr val="22C7A6"/>
          </a:solidFill>
          <a:ln w="12700">
            <a:solidFill>
              <a:srgbClr val="1595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80" b="1">
                <a:solidFill>
                  <a:srgbClr val="FFFFFF"/>
                </a:solidFill>
                <a:latin typeface="Aptos"/>
              </a:rPr>
              <a:t>Estado y dominio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29000" y="3163824"/>
            <a:ext cx="75438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30168" y="3694176"/>
            <a:ext cx="7141464" cy="-91439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lnSpc>
                <a:spcPct val="108000"/>
              </a:lnSpc>
              <a:defRPr sz="1080">
                <a:solidFill>
                  <a:srgbClr val="51706D"/>
                </a:solidFill>
                <a:latin typeface="Aptos"/>
              </a:defRPr>
            </a:pPr>
            <a:r>
              <a:t>src/store/*.js: CRUD Firestore, odontograma, voz, citas, storage, documentos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984248" y="3767328"/>
            <a:ext cx="0" cy="237744"/>
          </a:xfrm>
          <a:prstGeom prst="line">
            <a:avLst/>
          </a:prstGeom>
          <a:ln w="25400">
            <a:solidFill>
              <a:srgbClr val="1595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22960" y="4005072"/>
            <a:ext cx="2331720" cy="566928"/>
          </a:xfrm>
          <a:prstGeom prst="roundRect">
            <a:avLst/>
          </a:prstGeom>
          <a:solidFill>
            <a:srgbClr val="22C7A6"/>
          </a:solidFill>
          <a:ln w="12700">
            <a:solidFill>
              <a:srgbClr val="1595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80" b="1">
                <a:solidFill>
                  <a:srgbClr val="FFFFFF"/>
                </a:solidFill>
                <a:latin typeface="Aptos"/>
              </a:rPr>
              <a:t>Servicios externos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29000" y="4005072"/>
            <a:ext cx="7543800" cy="566928"/>
          </a:xfrm>
          <a:prstGeom prst="roundRect">
            <a:avLst/>
          </a:prstGeom>
          <a:solidFill>
            <a:srgbClr val="ECF8F4"/>
          </a:solidFill>
          <a:ln w="12700">
            <a:solidFill>
              <a:srgbClr val="D5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30168" y="4535424"/>
            <a:ext cx="7141464" cy="-91439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lnSpc>
                <a:spcPct val="108000"/>
              </a:lnSpc>
              <a:defRPr sz="1080">
                <a:solidFill>
                  <a:srgbClr val="51706D"/>
                </a:solidFill>
                <a:latin typeface="Aptos"/>
              </a:defRPr>
            </a:pPr>
            <a:r>
              <a:t>Firebase Auth / Firestore / Storage, Google Calendar API, Cloud Function corecttext, Web Speech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984248" y="4608576"/>
            <a:ext cx="0" cy="237744"/>
          </a:xfrm>
          <a:prstGeom prst="line">
            <a:avLst/>
          </a:prstGeom>
          <a:ln w="25400">
            <a:solidFill>
              <a:srgbClr val="1595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22960" y="4846320"/>
            <a:ext cx="2331720" cy="566928"/>
          </a:xfrm>
          <a:prstGeom prst="roundRect">
            <a:avLst/>
          </a:prstGeom>
          <a:solidFill>
            <a:srgbClr val="22C7A6"/>
          </a:solidFill>
          <a:ln w="12700">
            <a:solidFill>
              <a:srgbClr val="1595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80" b="1">
                <a:solidFill>
                  <a:srgbClr val="FFFFFF"/>
                </a:solidFill>
                <a:latin typeface="Aptos"/>
              </a:rPr>
              <a:t>Distribuci?n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29000" y="4846320"/>
            <a:ext cx="75438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30168" y="5376672"/>
            <a:ext cx="7141464" cy="-91439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lnSpc>
                <a:spcPct val="108000"/>
              </a:lnSpc>
              <a:defRPr sz="1080">
                <a:solidFill>
                  <a:srgbClr val="51706D"/>
                </a:solidFill>
                <a:latin typeface="Aptos"/>
              </a:defRPr>
            </a:pPr>
            <a:r>
              <a:t>Vite build -&gt; dist -&gt; Firebase Hosting con rewrites SPA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961888"/>
            <a:ext cx="2011680" cy="201168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880" b="1">
                <a:solidFill>
                  <a:srgbClr val="15957F"/>
                </a:solidFill>
                <a:latin typeface="Aptos"/>
              </a:rPr>
              <a:t>CRITERIO VUE SENIOR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5907024"/>
            <a:ext cx="8869680" cy="411480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lnSpc>
                <a:spcPct val="105000"/>
              </a:lnSpc>
              <a:defRPr sz="1040">
                <a:solidFill>
                  <a:srgbClr val="51706D"/>
                </a:solidFill>
                <a:latin typeface="Aptos"/>
              </a:defRPr>
            </a:pPr>
            <a:r>
              <a:t>La capa de estado hoy mezcla estado reactivo, acceso a Firebase y reglas de dominio. Es funcional, pero conviene extraer servicios reutilizables para crecer con menor acoplamiento.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F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7772400" cy="502920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3000" b="1">
                <a:solidFill>
                  <a:srgbClr val="123C3A"/>
                </a:solidFill>
                <a:latin typeface="Aptos Display"/>
              </a:rPr>
              <a:t>Mapa funcional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8503920" cy="310896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250" b="0">
                <a:solidFill>
                  <a:srgbClr val="51706D"/>
                </a:solidFill>
                <a:latin typeface="Aptos"/>
              </a:rPr>
              <a:t>M?dulos visibles en src/views y rutas del dashboard.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16152"/>
            <a:ext cx="1005840" cy="64008"/>
          </a:xfrm>
          <a:prstGeom prst="roundRect">
            <a:avLst/>
          </a:prstGeom>
          <a:solidFill>
            <a:srgbClr val="22C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55664"/>
            <a:ext cx="3657600" cy="201168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850" b="0">
                <a:solidFill>
                  <a:srgbClr val="51706D"/>
                </a:solidFill>
                <a:latin typeface="Aptos"/>
              </a:rPr>
              <a:t>Quiru | Arquitectura del proyecto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37376"/>
            <a:ext cx="411480" cy="228600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>
                <a:solidFill>
                  <a:srgbClr val="15957F"/>
                </a:solidFill>
                <a:latin typeface="Aptos"/>
              </a:rPr>
              <a:t>05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320040"/>
            <a:ext cx="1325880" cy="129945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85800" y="1508760"/>
            <a:ext cx="251460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673351"/>
            <a:ext cx="2112264" cy="256032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350" b="1">
                <a:solidFill>
                  <a:srgbClr val="123C3A"/>
                </a:solidFill>
                <a:latin typeface="Aptos"/>
              </a:rPr>
              <a:t>Sesi?n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039112"/>
            <a:ext cx="2112264" cy="457200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lnSpc>
                <a:spcPct val="108000"/>
              </a:lnSpc>
              <a:defRPr sz="1080">
                <a:solidFill>
                  <a:srgbClr val="51706D"/>
                </a:solidFill>
                <a:latin typeface="Aptos"/>
              </a:defRPr>
            </a:pPr>
            <a:r>
              <a:t>Landing, login, registro, reset, demo e inscripci?n.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11880" y="1508760"/>
            <a:ext cx="251460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3048" y="1673351"/>
            <a:ext cx="2112264" cy="256032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350" b="1">
                <a:solidFill>
                  <a:srgbClr val="123C3A"/>
                </a:solidFill>
                <a:latin typeface="Aptos"/>
              </a:rPr>
              <a:t>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3048" y="2039112"/>
            <a:ext cx="2112264" cy="457200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lnSpc>
                <a:spcPct val="108000"/>
              </a:lnSpc>
              <a:defRPr sz="1080">
                <a:solidFill>
                  <a:srgbClr val="51706D"/>
                </a:solidFill>
                <a:latin typeface="Aptos"/>
              </a:defRPr>
            </a:pPr>
            <a:r>
              <a:t>Shell autenticada, di?logo global, avatar y navegaci?n.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1508760"/>
            <a:ext cx="251460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39128" y="1673351"/>
            <a:ext cx="2112264" cy="256032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350" b="1">
                <a:solidFill>
                  <a:srgbClr val="123C3A"/>
                </a:solidFill>
                <a:latin typeface="Aptos"/>
              </a:rPr>
              <a:t>Pacientes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39128" y="2039112"/>
            <a:ext cx="2112264" cy="457200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lnSpc>
                <a:spcPct val="108000"/>
              </a:lnSpc>
              <a:defRPr sz="1080">
                <a:solidFill>
                  <a:srgbClr val="51706D"/>
                </a:solidFill>
                <a:latin typeface="Aptos"/>
              </a:defRPr>
            </a:pPr>
            <a:r>
              <a:t>Registro, edici?n, consulta, ficha y vista paciente.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64040" y="1508760"/>
            <a:ext cx="251460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65208" y="1673351"/>
            <a:ext cx="2112264" cy="256032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350" b="1">
                <a:solidFill>
                  <a:srgbClr val="123C3A"/>
                </a:solidFill>
                <a:latin typeface="Aptos"/>
              </a:rPr>
              <a:t>Admisi?n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65208" y="2039112"/>
            <a:ext cx="2112264" cy="457200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lnSpc>
                <a:spcPct val="108000"/>
              </a:lnSpc>
              <a:defRPr sz="1080">
                <a:solidFill>
                  <a:srgbClr val="51706D"/>
                </a:solidFill>
                <a:latin typeface="Aptos"/>
              </a:defRPr>
            </a:pPr>
            <a:r>
              <a:t>Historia inicial, consentimiento, archivos y formularios cl?nicos.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063240"/>
            <a:ext cx="251460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3227832"/>
            <a:ext cx="2112264" cy="256032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350" b="1">
                <a:solidFill>
                  <a:srgbClr val="123C3A"/>
                </a:solidFill>
                <a:latin typeface="Aptos"/>
              </a:rPr>
              <a:t>Odontograma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" y="3593592"/>
            <a:ext cx="2112264" cy="457200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lnSpc>
                <a:spcPct val="108000"/>
              </a:lnSpc>
              <a:defRPr sz="1080">
                <a:solidFill>
                  <a:srgbClr val="51706D"/>
                </a:solidFill>
                <a:latin typeface="Aptos"/>
              </a:defRPr>
            </a:pPr>
            <a:r>
              <a:t>Asistente de voz, hallazgos, impresi?n, adicionales, plan y cotizaci?n.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11880" y="3063240"/>
            <a:ext cx="251460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13048" y="3227832"/>
            <a:ext cx="2112264" cy="256032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350" b="1">
                <a:solidFill>
                  <a:srgbClr val="123C3A"/>
                </a:solidFill>
                <a:latin typeface="Aptos"/>
              </a:rPr>
              <a:t>Citas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13048" y="3593592"/>
            <a:ext cx="2112264" cy="457200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lnSpc>
                <a:spcPct val="108000"/>
              </a:lnSpc>
              <a:defRPr sz="1080">
                <a:solidFill>
                  <a:srgbClr val="51706D"/>
                </a:solidFill>
                <a:latin typeface="Aptos"/>
              </a:defRPr>
            </a:pPr>
            <a:r>
              <a:t>Calendario, disponibilidad, Google Calendar y registro de eventos.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37960" y="3063240"/>
            <a:ext cx="251460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39128" y="3227832"/>
            <a:ext cx="2112264" cy="256032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350" b="1">
                <a:solidFill>
                  <a:srgbClr val="123C3A"/>
                </a:solidFill>
                <a:latin typeface="Aptos"/>
              </a:rPr>
              <a:t>Administraci?n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39128" y="3593592"/>
            <a:ext cx="2112264" cy="457200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lnSpc>
                <a:spcPct val="108000"/>
              </a:lnSpc>
              <a:defRPr sz="1080">
                <a:solidFill>
                  <a:srgbClr val="51706D"/>
                </a:solidFill>
                <a:latin typeface="Aptos"/>
              </a:defRPr>
            </a:pPr>
            <a:r>
              <a:t>Usuarios, diccionario, par?metros, precios y control interno.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64040" y="3063240"/>
            <a:ext cx="251460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65208" y="3227832"/>
            <a:ext cx="2112264" cy="256032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350" b="1">
                <a:solidFill>
                  <a:srgbClr val="123C3A"/>
                </a:solidFill>
                <a:latin typeface="Aptos"/>
              </a:rPr>
              <a:t>Reportes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65208" y="3593592"/>
            <a:ext cx="2112264" cy="457200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lnSpc>
                <a:spcPct val="108000"/>
              </a:lnSpc>
              <a:defRPr sz="1080">
                <a:solidFill>
                  <a:srgbClr val="51706D"/>
                </a:solidFill>
                <a:latin typeface="Aptos"/>
              </a:defRPr>
            </a:pPr>
            <a:r>
              <a:t>Historia cl?nica/m?dica, PDF odontograma, res?menes CIE10.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938528" y="2697480"/>
            <a:ext cx="0" cy="256032"/>
          </a:xfrm>
          <a:prstGeom prst="line">
            <a:avLst/>
          </a:prstGeom>
          <a:ln w="25400">
            <a:solidFill>
              <a:srgbClr val="1595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864608" y="2697480"/>
            <a:ext cx="0" cy="256032"/>
          </a:xfrm>
          <a:prstGeom prst="line">
            <a:avLst/>
          </a:prstGeom>
          <a:ln w="25400">
            <a:solidFill>
              <a:srgbClr val="1595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790688" y="2697480"/>
            <a:ext cx="0" cy="256032"/>
          </a:xfrm>
          <a:prstGeom prst="line">
            <a:avLst/>
          </a:prstGeom>
          <a:ln w="25400">
            <a:solidFill>
              <a:srgbClr val="1595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0716768" y="2697480"/>
            <a:ext cx="0" cy="256032"/>
          </a:xfrm>
          <a:prstGeom prst="line">
            <a:avLst/>
          </a:prstGeom>
          <a:ln w="25400">
            <a:solidFill>
              <a:srgbClr val="1595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685800" y="5166360"/>
            <a:ext cx="107442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6968" y="5330952"/>
            <a:ext cx="10341864" cy="256032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350" b="1">
                <a:solidFill>
                  <a:srgbClr val="123C3A"/>
                </a:solidFill>
                <a:latin typeface="Aptos"/>
              </a:rPr>
              <a:t>Lectura de navegaci?n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6968" y="5696712"/>
            <a:ext cx="10341864" cy="118872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lnSpc>
                <a:spcPct val="108000"/>
              </a:lnSpc>
              <a:defRPr sz="1080">
                <a:solidFill>
                  <a:srgbClr val="51706D"/>
                </a:solidFill>
                <a:latin typeface="Aptos"/>
              </a:defRPr>
            </a:pPr>
            <a:r>
              <a:t>La navegaci?n principal del dashboard prioriza Citas y Pacientes; Administraci?n aparece por rol admin. Otras capacidades se acceden desde flujos de paciente/odontograma.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F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7772400" cy="502920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3000" b="1">
                <a:solidFill>
                  <a:srgbClr val="123C3A"/>
                </a:solidFill>
                <a:latin typeface="Aptos Display"/>
              </a:rPr>
              <a:t>Routing y acceso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8503920" cy="310896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250" b="0">
                <a:solidFill>
                  <a:srgbClr val="51706D"/>
                </a:solidFill>
                <a:latin typeface="Aptos"/>
              </a:rPr>
              <a:t>Estructura observada en src/config/router.js.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16152"/>
            <a:ext cx="1005840" cy="64008"/>
          </a:xfrm>
          <a:prstGeom prst="roundRect">
            <a:avLst/>
          </a:prstGeom>
          <a:solidFill>
            <a:srgbClr val="22C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55664"/>
            <a:ext cx="3657600" cy="201168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850" b="0">
                <a:solidFill>
                  <a:srgbClr val="51706D"/>
                </a:solidFill>
                <a:latin typeface="Aptos"/>
              </a:rPr>
              <a:t>Quiru | Arquitectura del proyecto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37376"/>
            <a:ext cx="411480" cy="228600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>
                <a:solidFill>
                  <a:srgbClr val="15957F"/>
                </a:solidFill>
                <a:latin typeface="Aptos"/>
              </a:rPr>
              <a:t>06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320040"/>
            <a:ext cx="1325880" cy="129945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22960" y="1600200"/>
            <a:ext cx="1143000" cy="502920"/>
          </a:xfrm>
          <a:prstGeom prst="roundRect">
            <a:avLst/>
          </a:prstGeom>
          <a:solidFill>
            <a:srgbClr val="15957F"/>
          </a:solidFill>
          <a:ln w="12700">
            <a:solidFill>
              <a:srgbClr val="1595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20" b="1">
                <a:solidFill>
                  <a:srgbClr val="FFFFFF"/>
                </a:solidFill>
                <a:latin typeface="Aptos"/>
              </a:rPr>
              <a:t>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1720" y="1600200"/>
            <a:ext cx="23317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20" b="1">
                <a:solidFill>
                  <a:srgbClr val="123C3A"/>
                </a:solidFill>
                <a:latin typeface="Aptos"/>
              </a:rPr>
              <a:t>Landing / Demo / Inscripci?n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83480" y="1600200"/>
            <a:ext cx="329184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20" b="1">
                <a:solidFill>
                  <a:srgbClr val="123C3A"/>
                </a:solidFill>
                <a:latin typeface="Aptos"/>
              </a:rPr>
              <a:t>Sesi?n: login / registro / reset / pol?tica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65960" y="1856231"/>
            <a:ext cx="338328" cy="0"/>
          </a:xfrm>
          <a:prstGeom prst="line">
            <a:avLst/>
          </a:prstGeom>
          <a:ln w="25400">
            <a:solidFill>
              <a:srgbClr val="1595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663440" y="1856231"/>
            <a:ext cx="301752" cy="0"/>
          </a:xfrm>
          <a:prstGeom prst="line">
            <a:avLst/>
          </a:prstGeom>
          <a:ln w="25400">
            <a:solidFill>
              <a:srgbClr val="1595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22960" y="2788920"/>
            <a:ext cx="1508760" cy="502920"/>
          </a:xfrm>
          <a:prstGeom prst="roundRect">
            <a:avLst/>
          </a:prstGeom>
          <a:solidFill>
            <a:srgbClr val="22C7A6"/>
          </a:solidFill>
          <a:ln w="12700">
            <a:solidFill>
              <a:srgbClr val="1595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20" b="1">
                <a:solidFill>
                  <a:srgbClr val="FFFFFF"/>
                </a:solidFill>
                <a:latin typeface="Aptos"/>
              </a:rPr>
              <a:t>/dashboard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97480" y="2788920"/>
            <a:ext cx="20574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20" b="1">
                <a:solidFill>
                  <a:srgbClr val="123C3A"/>
                </a:solidFill>
                <a:latin typeface="Aptos"/>
              </a:rPr>
              <a:t>Guard: requiereAuth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20640" y="2788920"/>
            <a:ext cx="242316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20" b="1">
                <a:solidFill>
                  <a:srgbClr val="123C3A"/>
                </a:solidFill>
                <a:latin typeface="Aptos"/>
              </a:rPr>
              <a:t>Pacientes / Citas / Admin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09560" y="2788920"/>
            <a:ext cx="32461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20" b="1">
                <a:solidFill>
                  <a:srgbClr val="123C3A"/>
                </a:solidFill>
                <a:latin typeface="Aptos"/>
              </a:rPr>
              <a:t>Paciente -&gt; Odontograma -&gt; Plan/Cotizaci?n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331720" y="3044952"/>
            <a:ext cx="338328" cy="0"/>
          </a:xfrm>
          <a:prstGeom prst="line">
            <a:avLst/>
          </a:prstGeom>
          <a:ln w="25400">
            <a:solidFill>
              <a:srgbClr val="1595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754880" y="3044952"/>
            <a:ext cx="338328" cy="0"/>
          </a:xfrm>
          <a:prstGeom prst="line">
            <a:avLst/>
          </a:prstGeom>
          <a:ln w="25400">
            <a:solidFill>
              <a:srgbClr val="1595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543800" y="3044952"/>
            <a:ext cx="338327" cy="0"/>
          </a:xfrm>
          <a:prstGeom prst="line">
            <a:avLst/>
          </a:prstGeom>
          <a:ln w="25400">
            <a:solidFill>
              <a:srgbClr val="1595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22960" y="4114800"/>
            <a:ext cx="489204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" y="4279392"/>
            <a:ext cx="4489703" cy="256032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350" b="1">
                <a:solidFill>
                  <a:srgbClr val="123C3A"/>
                </a:solidFill>
                <a:latin typeface="Aptos"/>
              </a:rPr>
              <a:t>Comportamiento de sesi?n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" y="4645152"/>
            <a:ext cx="4489703" cy="621792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lnSpc>
                <a:spcPct val="108000"/>
              </a:lnSpc>
              <a:defRPr sz="1080">
                <a:solidFill>
                  <a:srgbClr val="51706D"/>
                </a:solidFill>
                <a:latin typeface="Aptos"/>
              </a:defRPr>
            </a:pPr>
            <a:r>
              <a:t>main.js inicializa Firebase antes de montar la app.</a:t>
            </a:r>
          </a:p>
          <a:p>
            <a:pPr>
              <a:lnSpc>
                <a:spcPct val="108000"/>
              </a:lnSpc>
              <a:defRPr sz="1080">
                <a:solidFill>
                  <a:srgbClr val="51706D"/>
                </a:solidFill>
                <a:latin typeface="Aptos"/>
              </a:defRPr>
            </a:pPr>
            <a:r>
              <a:t>App.vue llama sesion() y carga diccionario odontol?gico.</a:t>
            </a:r>
          </a:p>
          <a:p>
            <a:pPr>
              <a:lnSpc>
                <a:spcPct val="108000"/>
              </a:lnSpc>
              <a:defRPr sz="1080">
                <a:solidFill>
                  <a:srgbClr val="51706D"/>
                </a:solidFill>
                <a:latin typeface="Aptos"/>
              </a:defRPr>
            </a:pPr>
            <a:r>
              <a:t>El guard redirige a landing cuando una ruta autenticada no tiene usuario.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80760" y="4114800"/>
            <a:ext cx="50749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81928" y="4279392"/>
            <a:ext cx="4672583" cy="256032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350" b="1">
                <a:solidFill>
                  <a:srgbClr val="123C3A"/>
                </a:solidFill>
                <a:latin typeface="Aptos"/>
              </a:rPr>
              <a:t>Observaci?n t?cnica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81928" y="4645152"/>
            <a:ext cx="4672583" cy="621792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lnSpc>
                <a:spcPct val="108000"/>
              </a:lnSpc>
              <a:defRPr sz="1080">
                <a:solidFill>
                  <a:srgbClr val="51706D"/>
                </a:solidFill>
                <a:latin typeface="Aptos"/>
              </a:defRPr>
            </a:pPr>
            <a:r>
              <a:t>Existe una redirecci?n a { name: "landing" }, mientras la ruta p?blica activa se llama landingConCodigo; conviene revisar este contrato para evitar rutas nominales inexistentes.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F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7772400" cy="502920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3000" b="1">
                <a:solidFill>
                  <a:srgbClr val="123C3A"/>
                </a:solidFill>
                <a:latin typeface="Aptos Display"/>
              </a:rPr>
              <a:t>Flujo de datos cl?nicos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8503920" cy="310896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250" b="0">
                <a:solidFill>
                  <a:srgbClr val="51706D"/>
                </a:solidFill>
                <a:latin typeface="Aptos"/>
              </a:rPr>
              <a:t>C?mo se conectan usuario, paciente, atenci?n y documentos.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16152"/>
            <a:ext cx="1005840" cy="64008"/>
          </a:xfrm>
          <a:prstGeom prst="roundRect">
            <a:avLst/>
          </a:prstGeom>
          <a:solidFill>
            <a:srgbClr val="22C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55664"/>
            <a:ext cx="3657600" cy="201168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850" b="0">
                <a:solidFill>
                  <a:srgbClr val="51706D"/>
                </a:solidFill>
                <a:latin typeface="Aptos"/>
              </a:rPr>
              <a:t>Quiru | Arquitectura del proyecto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37376"/>
            <a:ext cx="411480" cy="228600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>
                <a:solidFill>
                  <a:srgbClr val="15957F"/>
                </a:solidFill>
                <a:latin typeface="Aptos"/>
              </a:rPr>
              <a:t>07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320040"/>
            <a:ext cx="1325880" cy="129945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85800" y="1828800"/>
            <a:ext cx="123444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20" b="1">
                <a:solidFill>
                  <a:srgbClr val="123C3A"/>
                </a:solidFill>
                <a:latin typeface="Aptos"/>
              </a:rPr>
              <a:t>Auth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48840" y="1828800"/>
            <a:ext cx="123444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20" b="1">
                <a:solidFill>
                  <a:srgbClr val="123C3A"/>
                </a:solidFill>
                <a:latin typeface="Aptos"/>
              </a:rPr>
              <a:t>Usuario / Rol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94760" y="1828800"/>
            <a:ext cx="123444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20" b="1">
                <a:solidFill>
                  <a:srgbClr val="123C3A"/>
                </a:solidFill>
                <a:latin typeface="Aptos"/>
              </a:rPr>
              <a:t>Paciente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94960" y="1828800"/>
            <a:ext cx="123444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20" b="1">
                <a:solidFill>
                  <a:srgbClr val="123C3A"/>
                </a:solidFill>
                <a:latin typeface="Aptos"/>
              </a:rPr>
              <a:t>Admisi?n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95160" y="1828800"/>
            <a:ext cx="123444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20" b="1">
                <a:solidFill>
                  <a:srgbClr val="123C3A"/>
                </a:solidFill>
                <a:latin typeface="Aptos"/>
              </a:rPr>
              <a:t>Odontograma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3960" y="1828800"/>
            <a:ext cx="123444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20" b="1">
                <a:solidFill>
                  <a:srgbClr val="123C3A"/>
                </a:solidFill>
                <a:latin typeface="Aptos"/>
              </a:rPr>
              <a:t>Plan / Cotizaci?n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87000" y="1828800"/>
            <a:ext cx="123444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20" b="1">
                <a:solidFill>
                  <a:srgbClr val="123C3A"/>
                </a:solidFill>
                <a:latin typeface="Aptos"/>
              </a:rPr>
              <a:t>PDF / Historia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920240" y="2112264"/>
            <a:ext cx="182880" cy="0"/>
          </a:xfrm>
          <a:prstGeom prst="line">
            <a:avLst/>
          </a:prstGeom>
          <a:ln w="25400">
            <a:solidFill>
              <a:srgbClr val="1595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383280" y="2112264"/>
            <a:ext cx="365760" cy="0"/>
          </a:xfrm>
          <a:prstGeom prst="line">
            <a:avLst/>
          </a:prstGeom>
          <a:ln w="25400">
            <a:solidFill>
              <a:srgbClr val="1595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029200" y="2112264"/>
            <a:ext cx="320040" cy="0"/>
          </a:xfrm>
          <a:prstGeom prst="line">
            <a:avLst/>
          </a:prstGeom>
          <a:ln w="25400">
            <a:solidFill>
              <a:srgbClr val="1595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629400" y="2112264"/>
            <a:ext cx="320040" cy="0"/>
          </a:xfrm>
          <a:prstGeom prst="line">
            <a:avLst/>
          </a:prstGeom>
          <a:ln w="25400">
            <a:solidFill>
              <a:srgbClr val="1595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229600" y="2112264"/>
            <a:ext cx="548640" cy="0"/>
          </a:xfrm>
          <a:prstGeom prst="line">
            <a:avLst/>
          </a:prstGeom>
          <a:ln w="25400">
            <a:solidFill>
              <a:srgbClr val="1595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058400" y="2112264"/>
            <a:ext cx="182880" cy="0"/>
          </a:xfrm>
          <a:prstGeom prst="line">
            <a:avLst/>
          </a:prstGeom>
          <a:ln w="25400">
            <a:solidFill>
              <a:srgbClr val="1595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971800" y="3154680"/>
            <a:ext cx="2240280" cy="502920"/>
          </a:xfrm>
          <a:prstGeom prst="roundRect">
            <a:avLst/>
          </a:prstGeom>
          <a:solidFill>
            <a:srgbClr val="22C7A6"/>
          </a:solidFill>
          <a:ln w="12700">
            <a:solidFill>
              <a:srgbClr val="1595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20" b="1">
                <a:solidFill>
                  <a:srgbClr val="FFFFFF"/>
                </a:solidFill>
                <a:latin typeface="Aptos"/>
              </a:rPr>
              <a:t>Firestore collections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0" y="3154680"/>
            <a:ext cx="5257800" cy="502920"/>
          </a:xfrm>
          <a:prstGeom prst="roundRect">
            <a:avLst/>
          </a:prstGeom>
          <a:solidFill>
            <a:srgbClr val="ECF8F4"/>
          </a:solidFill>
          <a:ln w="12700">
            <a:solidFill>
              <a:srgbClr val="D5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20" b="1">
                <a:solidFill>
                  <a:srgbClr val="123C3A"/>
                </a:solidFill>
                <a:latin typeface="Aptos"/>
              </a:rPr>
              <a:t>paciente, admision, odontograma, registro, planes, presupuesto, citas, usuario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4114800" y="2423160"/>
            <a:ext cx="3154680" cy="704088"/>
          </a:xfrm>
          <a:prstGeom prst="line">
            <a:avLst/>
          </a:prstGeom>
          <a:ln w="25400">
            <a:solidFill>
              <a:srgbClr val="15957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983480" y="4343400"/>
            <a:ext cx="1325880" cy="502920"/>
          </a:xfrm>
          <a:prstGeom prst="roundRect">
            <a:avLst/>
          </a:prstGeom>
          <a:solidFill>
            <a:srgbClr val="FF8D6B"/>
          </a:solidFill>
          <a:ln w="12700">
            <a:solidFill>
              <a:srgbClr val="FF8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20" b="1">
                <a:solidFill>
                  <a:srgbClr val="FFFFFF"/>
                </a:solidFill>
                <a:latin typeface="Aptos"/>
              </a:rPr>
              <a:t>Storage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0" y="4343400"/>
            <a:ext cx="32461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20" b="1">
                <a:solidFill>
                  <a:srgbClr val="123C3A"/>
                </a:solidFill>
                <a:latin typeface="Aptos"/>
              </a:rPr>
              <a:t>documento/{idOdontograma}/{archivo}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309360" y="4599432"/>
            <a:ext cx="246888" cy="0"/>
          </a:xfrm>
          <a:prstGeom prst="line">
            <a:avLst/>
          </a:prstGeom>
          <a:ln w="25400">
            <a:solidFill>
              <a:srgbClr val="FF8D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22960" y="5321808"/>
            <a:ext cx="102870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4128" y="5486400"/>
            <a:ext cx="9884664" cy="256032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350" b="1">
                <a:solidFill>
                  <a:srgbClr val="123C3A"/>
                </a:solidFill>
                <a:latin typeface="Aptos"/>
              </a:rPr>
              <a:t>Lectura de dominio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" y="5852160"/>
            <a:ext cx="9884664" cy="27432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lnSpc>
                <a:spcPct val="108000"/>
              </a:lnSpc>
              <a:defRPr sz="1080">
                <a:solidFill>
                  <a:srgbClr val="51706D"/>
                </a:solidFill>
                <a:latin typeface="Aptos"/>
              </a:defRPr>
            </a:pPr>
            <a:r>
              <a:t>El odontograma es el n?cleo transaccional: concentra hallazgos, diagn?stico, plan de tratamiento, precios, archivos y generaci?n documental alrededor de un paciente y un odont?logo.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F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7772400" cy="502920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3000" b="1">
                <a:solidFill>
                  <a:srgbClr val="123C3A"/>
                </a:solidFill>
                <a:latin typeface="Aptos Display"/>
              </a:rPr>
              <a:t>Estado y stores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8503920" cy="310896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250" b="0">
                <a:solidFill>
                  <a:srgbClr val="51706D"/>
                </a:solidFill>
                <a:latin typeface="Aptos"/>
              </a:rPr>
              <a:t>La capa de estado usa refs de Vue y funciones por dominio.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16152"/>
            <a:ext cx="1005840" cy="64008"/>
          </a:xfrm>
          <a:prstGeom prst="roundRect">
            <a:avLst/>
          </a:prstGeom>
          <a:solidFill>
            <a:srgbClr val="22C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55664"/>
            <a:ext cx="3657600" cy="201168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850" b="0">
                <a:solidFill>
                  <a:srgbClr val="51706D"/>
                </a:solidFill>
                <a:latin typeface="Aptos"/>
              </a:rPr>
              <a:t>Quiru | Arquitectura del proyecto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37376"/>
            <a:ext cx="411480" cy="228600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>
                <a:solidFill>
                  <a:srgbClr val="15957F"/>
                </a:solidFill>
                <a:latin typeface="Aptos"/>
              </a:rPr>
              <a:t>08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320040"/>
            <a:ext cx="1325880" cy="129945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572768"/>
          <a:ext cx="10972798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3749039"/>
                <a:gridCol w="5349240"/>
              </a:tblGrid>
              <a:tr h="54102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Dominio</a:t>
                      </a:r>
                    </a:p>
                  </a:txBody>
                  <a:tcPr marL="76200" marR="76200" marT="50800" marB="50800">
                    <a:solidFill>
                      <a:srgbClr val="1595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Stores principales</a:t>
                      </a:r>
                    </a:p>
                  </a:txBody>
                  <a:tcPr marL="76200" marR="76200" marT="50800" marB="50800">
                    <a:solidFill>
                      <a:srgbClr val="1595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Responsabilidad</a:t>
                      </a:r>
                    </a:p>
                  </a:txBody>
                  <a:tcPr marL="76200" marR="76200" marT="50800" marB="50800">
                    <a:solidFill>
                      <a:srgbClr val="15957F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>
                        <a:defRPr sz="980" b="0">
                          <a:solidFill>
                            <a:srgbClr val="123C3A"/>
                          </a:solidFill>
                          <a:latin typeface="Aptos"/>
                        </a:defRPr>
                      </a:pPr>
                      <a:r>
                        <a:t>Sesi?n / usuario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 b="0">
                          <a:solidFill>
                            <a:srgbClr val="123C3A"/>
                          </a:solidFill>
                          <a:latin typeface="Aptos"/>
                        </a:defRPr>
                      </a:pPr>
                      <a:r>
                        <a:t>sesion.js, usuario.js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 b="0">
                          <a:solidFill>
                            <a:srgbClr val="123C3A"/>
                          </a:solidFill>
                          <a:latin typeface="Aptos"/>
                        </a:defRPr>
                      </a:pPr>
                      <a:r>
                        <a:t>Auth, perfil, roles, alta y consulta de usuario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>
                        <a:defRPr sz="980" b="0">
                          <a:solidFill>
                            <a:srgbClr val="123C3A"/>
                          </a:solidFill>
                          <a:latin typeface="Aptos"/>
                        </a:defRPr>
                      </a:pPr>
                      <a:r>
                        <a:t>Pacientes / admisi?n</a:t>
                      </a:r>
                    </a:p>
                  </a:txBody>
                  <a:tcPr marL="76200" marR="76200" marT="50800" marB="50800">
                    <a:solidFill>
                      <a:srgbClr val="ECF8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 b="0">
                          <a:solidFill>
                            <a:srgbClr val="123C3A"/>
                          </a:solidFill>
                          <a:latin typeface="Aptos"/>
                        </a:defRPr>
                      </a:pPr>
                      <a:r>
                        <a:t>paciente.js, admision.js</a:t>
                      </a:r>
                    </a:p>
                  </a:txBody>
                  <a:tcPr marL="76200" marR="76200" marT="50800" marB="50800">
                    <a:solidFill>
                      <a:srgbClr val="ECF8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 b="0">
                          <a:solidFill>
                            <a:srgbClr val="123C3A"/>
                          </a:solidFill>
                          <a:latin typeface="Aptos"/>
                        </a:defRPr>
                      </a:pPr>
                      <a:r>
                        <a:t>CRUD cl?nico base, anamnesis, consentimientos y datos generales</a:t>
                      </a:r>
                    </a:p>
                  </a:txBody>
                  <a:tcPr marL="76200" marR="76200" marT="50800" marB="50800">
                    <a:solidFill>
                      <a:srgbClr val="ECF8F4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>
                        <a:defRPr sz="980" b="0">
                          <a:solidFill>
                            <a:srgbClr val="123C3A"/>
                          </a:solidFill>
                          <a:latin typeface="Aptos"/>
                        </a:defRPr>
                      </a:pPr>
                      <a:r>
                        <a:t>Odontograma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 b="0">
                          <a:solidFill>
                            <a:srgbClr val="123C3A"/>
                          </a:solidFill>
                          <a:latin typeface="Aptos"/>
                        </a:defRPr>
                      </a:pPr>
                      <a:r>
                        <a:t>odontograma.js, formodontograma.js, odonto.js, comandosDeVoz.js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 b="0">
                          <a:solidFill>
                            <a:srgbClr val="123C3A"/>
                          </a:solidFill>
                          <a:latin typeface="Aptos"/>
                        </a:defRPr>
                      </a:pPr>
                      <a:r>
                        <a:t>Hallazgos, voz, matrices dentales, diccionarios, subcolecciones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>
                        <a:defRPr sz="980" b="0">
                          <a:solidFill>
                            <a:srgbClr val="123C3A"/>
                          </a:solidFill>
                          <a:latin typeface="Aptos"/>
                        </a:defRPr>
                      </a:pPr>
                      <a:r>
                        <a:t>Operaci?n</a:t>
                      </a:r>
                    </a:p>
                  </a:txBody>
                  <a:tcPr marL="76200" marR="76200" marT="50800" marB="50800">
                    <a:solidFill>
                      <a:srgbClr val="ECF8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 b="0">
                          <a:solidFill>
                            <a:srgbClr val="123C3A"/>
                          </a:solidFill>
                          <a:latin typeface="Aptos"/>
                        </a:defRPr>
                      </a:pPr>
                      <a:r>
                        <a:t>citas.js, precios.js, parametros.js, planTratamiento.js, cotizacion.js</a:t>
                      </a:r>
                    </a:p>
                  </a:txBody>
                  <a:tcPr marL="76200" marR="76200" marT="50800" marB="50800">
                    <a:solidFill>
                      <a:srgbClr val="ECF8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 b="0">
                          <a:solidFill>
                            <a:srgbClr val="123C3A"/>
                          </a:solidFill>
                          <a:latin typeface="Aptos"/>
                        </a:defRPr>
                      </a:pPr>
                      <a:r>
                        <a:t>Agenda, costos, tratamientos, presupuestos y par?metros</a:t>
                      </a:r>
                    </a:p>
                  </a:txBody>
                  <a:tcPr marL="76200" marR="76200" marT="50800" marB="50800">
                    <a:solidFill>
                      <a:srgbClr val="ECF8F4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>
                        <a:defRPr sz="980" b="0">
                          <a:solidFill>
                            <a:srgbClr val="123C3A"/>
                          </a:solidFill>
                          <a:latin typeface="Aptos"/>
                        </a:defRPr>
                      </a:pPr>
                      <a:r>
                        <a:t>Documentos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 b="0">
                          <a:solidFill>
                            <a:srgbClr val="123C3A"/>
                          </a:solidFill>
                          <a:latin typeface="Aptos"/>
                        </a:defRPr>
                      </a:pPr>
                      <a:r>
                        <a:t>storage.js, historiaClinica.js, Canvas.js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 b="0">
                          <a:solidFill>
                            <a:srgbClr val="123C3A"/>
                          </a:solidFill>
                          <a:latin typeface="Aptos"/>
                        </a:defRPr>
                      </a:pPr>
                      <a:r>
                        <a:t>Archivos, descargas, PDFs e impresi?n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85800" y="5120640"/>
            <a:ext cx="342900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5285231"/>
            <a:ext cx="3026664" cy="256032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350" b="1">
                <a:solidFill>
                  <a:srgbClr val="123C3A"/>
                </a:solidFill>
                <a:latin typeface="Aptos"/>
              </a:rPr>
              <a:t>Fortaleza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5650992"/>
            <a:ext cx="3026664" cy="237744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lnSpc>
                <a:spcPct val="108000"/>
              </a:lnSpc>
              <a:defRPr sz="1080">
                <a:solidFill>
                  <a:srgbClr val="51706D"/>
                </a:solidFill>
                <a:latin typeface="Aptos"/>
              </a:defRPr>
            </a:pPr>
            <a:r>
              <a:t>Simplicidad: cada dominio expone funciones directas que las vistas consumen sin mucha ceremonia.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5120640"/>
            <a:ext cx="342900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5285231"/>
            <a:ext cx="3026664" cy="256032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350" b="1">
                <a:solidFill>
                  <a:srgbClr val="123C3A"/>
                </a:solidFill>
                <a:latin typeface="Aptos"/>
              </a:rPr>
              <a:t>Riesgo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5650992"/>
            <a:ext cx="3026664" cy="237744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lnSpc>
                <a:spcPct val="108000"/>
              </a:lnSpc>
              <a:defRPr sz="1080">
                <a:solidFill>
                  <a:srgbClr val="51706D"/>
                </a:solidFill>
                <a:latin typeface="Aptos"/>
              </a:defRPr>
            </a:pPr>
            <a:r>
              <a:t>Estado global mutable y CRUD duplicado pueden crecer en acoplamiento y dificultar pruebas.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5864" y="5120640"/>
            <a:ext cx="342900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57032" y="5285231"/>
            <a:ext cx="3026664" cy="256032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350" b="1">
                <a:solidFill>
                  <a:srgbClr val="123C3A"/>
                </a:solidFill>
                <a:latin typeface="Aptos"/>
              </a:rPr>
              <a:t>Recomendaci?n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2" y="5650992"/>
            <a:ext cx="3026664" cy="237744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lnSpc>
                <a:spcPct val="108000"/>
              </a:lnSpc>
              <a:defRPr sz="1080">
                <a:solidFill>
                  <a:srgbClr val="51706D"/>
                </a:solidFill>
                <a:latin typeface="Aptos"/>
              </a:defRPr>
            </a:pPr>
            <a:r>
              <a:t>Estandarizar servicios Firestore y migrar gradualmente a stores tipados/Pinia si el alcance sigue creciendo.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F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7772400" cy="502920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3000" b="1">
                <a:solidFill>
                  <a:srgbClr val="123C3A"/>
                </a:solidFill>
                <a:latin typeface="Aptos Display"/>
              </a:rPr>
              <a:t>Integraciones externas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8503920" cy="310896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250" b="0">
                <a:solidFill>
                  <a:srgbClr val="51706D"/>
                </a:solidFill>
                <a:latin typeface="Aptos"/>
              </a:rPr>
              <a:t>Puntos de dependencia fuera del bundle Vue.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16152"/>
            <a:ext cx="1005840" cy="64008"/>
          </a:xfrm>
          <a:prstGeom prst="roundRect">
            <a:avLst/>
          </a:prstGeom>
          <a:solidFill>
            <a:srgbClr val="22C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55664"/>
            <a:ext cx="3657600" cy="201168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850" b="0">
                <a:solidFill>
                  <a:srgbClr val="51706D"/>
                </a:solidFill>
                <a:latin typeface="Aptos"/>
              </a:rPr>
              <a:t>Quiru | Arquitectura del proyecto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37376"/>
            <a:ext cx="411480" cy="228600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>
                <a:solidFill>
                  <a:srgbClr val="15957F"/>
                </a:solidFill>
                <a:latin typeface="Aptos"/>
              </a:rPr>
              <a:t>09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320040"/>
            <a:ext cx="1325880" cy="129945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74920" y="2697480"/>
            <a:ext cx="1828800" cy="685800"/>
          </a:xfrm>
          <a:prstGeom prst="roundRect">
            <a:avLst/>
          </a:prstGeom>
          <a:solidFill>
            <a:srgbClr val="15957F"/>
          </a:solidFill>
          <a:ln w="12700">
            <a:solidFill>
              <a:srgbClr val="1595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Quiru SPA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508760"/>
            <a:ext cx="2331720" cy="438912"/>
          </a:xfrm>
          <a:prstGeom prst="roundRect">
            <a:avLst/>
          </a:prstGeom>
          <a:solidFill>
            <a:srgbClr val="22C7A6"/>
          </a:solidFill>
          <a:ln w="12700">
            <a:solidFill>
              <a:srgbClr val="22C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20" b="1">
                <a:solidFill>
                  <a:srgbClr val="FFFFFF"/>
                </a:solidFill>
                <a:latin typeface="Aptos"/>
              </a:rPr>
              <a:t>Firebase Auth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984248"/>
            <a:ext cx="233172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514600"/>
            <a:ext cx="1929384" cy="-73151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lnSpc>
                <a:spcPct val="108000"/>
              </a:lnSpc>
              <a:defRPr sz="1080">
                <a:solidFill>
                  <a:srgbClr val="51706D"/>
                </a:solidFill>
                <a:latin typeface="Aptos"/>
              </a:defRPr>
            </a:pPr>
            <a:r>
              <a:t>Email, Google, Facebook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993392" y="2569463"/>
            <a:ext cx="3995928" cy="493777"/>
          </a:xfrm>
          <a:prstGeom prst="line">
            <a:avLst/>
          </a:prstGeom>
          <a:ln w="16510">
            <a:solidFill>
              <a:srgbClr val="15957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22960" y="4160520"/>
            <a:ext cx="2331720" cy="438912"/>
          </a:xfrm>
          <a:prstGeom prst="roundRect">
            <a:avLst/>
          </a:prstGeom>
          <a:solidFill>
            <a:srgbClr val="22C7A6"/>
          </a:solidFill>
          <a:ln w="12700">
            <a:solidFill>
              <a:srgbClr val="22C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20" b="1">
                <a:solidFill>
                  <a:srgbClr val="FFFFFF"/>
                </a:solidFill>
                <a:latin typeface="Aptos"/>
              </a:rPr>
              <a:t>Firestore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636008"/>
            <a:ext cx="233172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5166360"/>
            <a:ext cx="1929384" cy="-73151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lnSpc>
                <a:spcPct val="108000"/>
              </a:lnSpc>
              <a:defRPr sz="1080">
                <a:solidFill>
                  <a:srgbClr val="51706D"/>
                </a:solidFill>
                <a:latin typeface="Aptos"/>
              </a:defRPr>
            </a:pPr>
            <a:r>
              <a:t>Realtime onSnapshot + CRUD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1993392" y="3063240"/>
            <a:ext cx="3995928" cy="1097280"/>
          </a:xfrm>
          <a:prstGeom prst="line">
            <a:avLst/>
          </a:prstGeom>
          <a:ln w="16510">
            <a:solidFill>
              <a:srgbClr val="15957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749039" y="1051560"/>
            <a:ext cx="2331720" cy="438912"/>
          </a:xfrm>
          <a:prstGeom prst="roundRect">
            <a:avLst/>
          </a:prstGeom>
          <a:solidFill>
            <a:srgbClr val="FF8D6B"/>
          </a:solidFill>
          <a:ln w="12700">
            <a:solidFill>
              <a:srgbClr val="FF8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20" b="1">
                <a:solidFill>
                  <a:srgbClr val="FFFFFF"/>
                </a:solidFill>
                <a:latin typeface="Aptos"/>
              </a:rPr>
              <a:t>Firebase Storage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49039" y="1527048"/>
            <a:ext cx="233172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50207" y="2057400"/>
            <a:ext cx="1929384" cy="-73151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lnSpc>
                <a:spcPct val="108000"/>
              </a:lnSpc>
              <a:defRPr sz="1080">
                <a:solidFill>
                  <a:srgbClr val="51706D"/>
                </a:solidFill>
                <a:latin typeface="Aptos"/>
              </a:defRPr>
            </a:pPr>
            <a:r>
              <a:t>Archivos cl?nicos &lt;= 4 MB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919472" y="2112263"/>
            <a:ext cx="1069848" cy="950977"/>
          </a:xfrm>
          <a:prstGeom prst="line">
            <a:avLst/>
          </a:prstGeom>
          <a:ln w="16510">
            <a:solidFill>
              <a:srgbClr val="15957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183879" y="1051560"/>
            <a:ext cx="2331720" cy="438912"/>
          </a:xfrm>
          <a:prstGeom prst="roundRect">
            <a:avLst/>
          </a:prstGeom>
          <a:solidFill>
            <a:srgbClr val="3F51B5"/>
          </a:solidFill>
          <a:ln w="12700">
            <a:solidFill>
              <a:srgbClr val="3F51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20" b="1">
                <a:solidFill>
                  <a:srgbClr val="FFFFFF"/>
                </a:solidFill>
                <a:latin typeface="Aptos"/>
              </a:rPr>
              <a:t>Google Calendar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83879" y="1527048"/>
            <a:ext cx="233172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85048" y="2057400"/>
            <a:ext cx="1929384" cy="-73151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lnSpc>
                <a:spcPct val="108000"/>
              </a:lnSpc>
              <a:defRPr sz="1080">
                <a:solidFill>
                  <a:srgbClr val="51706D"/>
                </a:solidFill>
                <a:latin typeface="Aptos"/>
              </a:defRPr>
            </a:pPr>
            <a:r>
              <a:t>Eventos, disponibilidad, asistentes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5989320" y="2112263"/>
            <a:ext cx="3364991" cy="950977"/>
          </a:xfrm>
          <a:prstGeom prst="line">
            <a:avLst/>
          </a:prstGeom>
          <a:ln w="16510">
            <a:solidFill>
              <a:srgbClr val="15957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183879" y="4160520"/>
            <a:ext cx="2331720" cy="438912"/>
          </a:xfrm>
          <a:prstGeom prst="roundRect">
            <a:avLst/>
          </a:prstGeom>
          <a:solidFill>
            <a:srgbClr val="FF8D6B"/>
          </a:solidFill>
          <a:ln w="12700">
            <a:solidFill>
              <a:srgbClr val="FF8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20" b="1">
                <a:solidFill>
                  <a:srgbClr val="FFFFFF"/>
                </a:solidFill>
                <a:latin typeface="Aptos"/>
              </a:rPr>
              <a:t>Web Speech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83879" y="4636008"/>
            <a:ext cx="233172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85048" y="5166360"/>
            <a:ext cx="1929384" cy="-73151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lnSpc>
                <a:spcPct val="108000"/>
              </a:lnSpc>
              <a:defRPr sz="1080">
                <a:solidFill>
                  <a:srgbClr val="51706D"/>
                </a:solidFill>
                <a:latin typeface="Aptos"/>
              </a:defRPr>
            </a:pPr>
            <a:r>
              <a:t>annyang + speechSynthesis</a:t>
            </a:r>
          </a:p>
        </p:txBody>
      </p:sp>
      <p:cxnSp>
        <p:nvCxnSpPr>
          <p:cNvPr id="28" name="Connector 27"/>
          <p:cNvCxnSpPr/>
          <p:nvPr/>
        </p:nvCxnSpPr>
        <p:spPr>
          <a:xfrm flipH="1" flipV="1">
            <a:off x="5989320" y="3063240"/>
            <a:ext cx="3364991" cy="1097280"/>
          </a:xfrm>
          <a:prstGeom prst="line">
            <a:avLst/>
          </a:prstGeom>
          <a:ln w="16510">
            <a:solidFill>
              <a:srgbClr val="15957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749039" y="4617720"/>
            <a:ext cx="2331720" cy="438912"/>
          </a:xfrm>
          <a:prstGeom prst="roundRect">
            <a:avLst/>
          </a:prstGeom>
          <a:solidFill>
            <a:srgbClr val="22C7A6"/>
          </a:solidFill>
          <a:ln w="12700">
            <a:solidFill>
              <a:srgbClr val="22C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20" b="1">
                <a:solidFill>
                  <a:srgbClr val="FFFFFF"/>
                </a:solidFill>
                <a:latin typeface="Aptos"/>
              </a:rPr>
              <a:t>Cloud Function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749039" y="5093208"/>
            <a:ext cx="233172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50207" y="5623560"/>
            <a:ext cx="1929384" cy="-73151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lnSpc>
                <a:spcPct val="108000"/>
              </a:lnSpc>
              <a:defRPr sz="1080">
                <a:solidFill>
                  <a:srgbClr val="51706D"/>
                </a:solidFill>
                <a:latin typeface="Aptos"/>
              </a:defRPr>
            </a:pPr>
            <a:r>
              <a:t>corecttext para voz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4919472" y="3063240"/>
            <a:ext cx="1069848" cy="1554480"/>
          </a:xfrm>
          <a:prstGeom prst="line">
            <a:avLst/>
          </a:prstGeom>
          <a:ln w="16510">
            <a:solidFill>
              <a:srgbClr val="15957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822960" y="5806440"/>
            <a:ext cx="107442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4128" y="5971031"/>
            <a:ext cx="10341864" cy="256032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350" b="1">
                <a:solidFill>
                  <a:srgbClr val="123C3A"/>
                </a:solidFill>
                <a:latin typeface="Aptos"/>
              </a:rPr>
              <a:t>Riesgo operativo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4128" y="6336792"/>
            <a:ext cx="10341864" cy="-155447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lnSpc>
                <a:spcPct val="108000"/>
              </a:lnSpc>
              <a:defRPr sz="1080">
                <a:solidFill>
                  <a:srgbClr val="51706D"/>
                </a:solidFill>
                <a:latin typeface="Aptos"/>
              </a:defRPr>
            </a:pPr>
            <a:r>
              <a:t>Las claves y configuraciones de ambientes est?n visibles en el c?digo; aunque ciertas claves frontend son p?blicas por dise?o, se debe reforzar con reglas Firebase, variables de entorno y separaci?n de ambientes.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F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7772400" cy="502920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3000" b="1">
                <a:solidFill>
                  <a:srgbClr val="123C3A"/>
                </a:solidFill>
                <a:latin typeface="Aptos Display"/>
              </a:rPr>
              <a:t>UX/UI y referencia Figma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8503920" cy="310896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250" b="0">
                <a:solidFill>
                  <a:srgbClr val="51706D"/>
                </a:solidFill>
                <a:latin typeface="Aptos"/>
              </a:rPr>
              <a:t>Lectura desde el perfil Product Designer Senior.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16152"/>
            <a:ext cx="1005840" cy="64008"/>
          </a:xfrm>
          <a:prstGeom prst="roundRect">
            <a:avLst/>
          </a:prstGeom>
          <a:solidFill>
            <a:srgbClr val="22C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55664"/>
            <a:ext cx="3657600" cy="201168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850" b="0">
                <a:solidFill>
                  <a:srgbClr val="51706D"/>
                </a:solidFill>
                <a:latin typeface="Aptos"/>
              </a:rPr>
              <a:t>Quiru | Arquitectura del proyecto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37376"/>
            <a:ext cx="411480" cy="228600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>
                <a:solidFill>
                  <a:srgbClr val="15957F"/>
                </a:solidFill>
                <a:latin typeface="Aptos"/>
              </a:rPr>
              <a:t>10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320040"/>
            <a:ext cx="1325880" cy="129945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13232" y="1572768"/>
            <a:ext cx="48920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37360"/>
            <a:ext cx="4489703" cy="256032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350" b="1">
                <a:solidFill>
                  <a:srgbClr val="123C3A"/>
                </a:solidFill>
                <a:latin typeface="Aptos"/>
              </a:rPr>
              <a:t>Figma Quiru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03120"/>
            <a:ext cx="4489703" cy="1170432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lnSpc>
                <a:spcPct val="108000"/>
              </a:lnSpc>
              <a:defRPr sz="1080">
                <a:solidFill>
                  <a:srgbClr val="51706D"/>
                </a:solidFill>
                <a:latin typeface="Aptos"/>
              </a:defRPr>
            </a:pPr>
            <a:r>
              <a:t>Thumbnail no disponible durante generaci?n</a:t>
            </a:r>
          </a:p>
          <a:p>
            <a:pPr>
              <a:lnSpc>
                <a:spcPct val="108000"/>
              </a:lnSpc>
              <a:defRPr sz="1080">
                <a:solidFill>
                  <a:srgbClr val="51706D"/>
                </a:solidFill>
                <a:latin typeface="Aptos"/>
              </a:defRPr>
            </a:pPr>
            <a:r>
              <a:t>https://www.figma.com/proto/H1NpvM8BQDP9N5inaqslgB/Quiru?node-id=435-5096&amp;starting-point-node-id=435%3A5096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1536192"/>
            <a:ext cx="52578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0488" y="1700784"/>
            <a:ext cx="4855464" cy="256032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350" b="1">
                <a:solidFill>
                  <a:srgbClr val="123C3A"/>
                </a:solidFill>
                <a:latin typeface="Aptos"/>
              </a:rPr>
              <a:t>Referencia Figma considerada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0488" y="2066543"/>
            <a:ext cx="4855464" cy="347472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lnSpc>
                <a:spcPct val="108000"/>
              </a:lnSpc>
              <a:defRPr sz="1080">
                <a:solidFill>
                  <a:srgbClr val="51706D"/>
                </a:solidFill>
                <a:latin typeface="Aptos"/>
              </a:defRPr>
            </a:pPr>
            <a:r>
              <a:t>T?tulo: Quiru</a:t>
            </a:r>
          </a:p>
          <a:p>
            <a:pPr>
              <a:lnSpc>
                <a:spcPct val="108000"/>
              </a:lnSpc>
              <a:defRPr sz="1080">
                <a:solidFill>
                  <a:srgbClr val="51706D"/>
                </a:solidFill>
                <a:latin typeface="Aptos"/>
              </a:defRPr>
            </a:pPr>
            <a:r>
              <a:t>Clave: H1NpvM8BQDP9N5inaqslgB</a:t>
            </a:r>
          </a:p>
          <a:p>
            <a:pPr>
              <a:lnSpc>
                <a:spcPct val="108000"/>
              </a:lnSpc>
              <a:defRPr sz="1080">
                <a:solidFill>
                  <a:srgbClr val="51706D"/>
                </a:solidFill>
                <a:latin typeface="Aptos"/>
              </a:defRPr>
            </a:pPr>
            <a:r>
              <a:t>?ltima modificaci?n p?blica observada: 2026-04-23 21:08:40 UTC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89320" y="2788920"/>
            <a:ext cx="24688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0488" y="2953512"/>
            <a:ext cx="2066544" cy="256032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350" b="1">
                <a:solidFill>
                  <a:srgbClr val="123C3A"/>
                </a:solidFill>
                <a:latin typeface="Aptos"/>
              </a:rPr>
              <a:t>Tokens actuales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0488" y="3319272"/>
            <a:ext cx="2066544" cy="530352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lnSpc>
                <a:spcPct val="108000"/>
              </a:lnSpc>
              <a:defRPr sz="1080">
                <a:solidFill>
                  <a:srgbClr val="51706D"/>
                </a:solidFill>
                <a:latin typeface="Aptos"/>
              </a:defRPr>
            </a:pPr>
            <a:r>
              <a:t>Primary #22c7a6</a:t>
            </a:r>
          </a:p>
          <a:p>
            <a:pPr>
              <a:lnSpc>
                <a:spcPct val="108000"/>
              </a:lnSpc>
              <a:defRPr sz="1080">
                <a:solidFill>
                  <a:srgbClr val="51706D"/>
                </a:solidFill>
                <a:latin typeface="Aptos"/>
              </a:defRPr>
            </a:pPr>
            <a:r>
              <a:t>Secondary #ff8d6b</a:t>
            </a:r>
          </a:p>
          <a:p>
            <a:pPr>
              <a:lnSpc>
                <a:spcPct val="108000"/>
              </a:lnSpc>
              <a:defRPr sz="1080">
                <a:solidFill>
                  <a:srgbClr val="51706D"/>
                </a:solidFill>
                <a:latin typeface="Aptos"/>
              </a:defRPr>
            </a:pPr>
            <a:r>
              <a:t>Manrope + Plus Jakarta Sans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78240" y="2788920"/>
            <a:ext cx="24688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79408" y="2953512"/>
            <a:ext cx="2066544" cy="256032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350" b="1">
                <a:solidFill>
                  <a:srgbClr val="123C3A"/>
                </a:solidFill>
                <a:latin typeface="Aptos"/>
              </a:rPr>
              <a:t>Patrones UI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79408" y="3319272"/>
            <a:ext cx="2066544" cy="530352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lnSpc>
                <a:spcPct val="108000"/>
              </a:lnSpc>
              <a:defRPr sz="1080">
                <a:solidFill>
                  <a:srgbClr val="51706D"/>
                </a:solidFill>
                <a:latin typeface="Aptos"/>
              </a:defRPr>
            </a:pPr>
            <a:r>
              <a:t>Dashboard shell</a:t>
            </a:r>
          </a:p>
          <a:p>
            <a:pPr>
              <a:lnSpc>
                <a:spcPct val="108000"/>
              </a:lnSpc>
              <a:defRPr sz="1080">
                <a:solidFill>
                  <a:srgbClr val="51706D"/>
                </a:solidFill>
                <a:latin typeface="Aptos"/>
              </a:defRPr>
            </a:pPr>
            <a:r>
              <a:t>Bottom nav</a:t>
            </a:r>
          </a:p>
          <a:p>
            <a:pPr>
              <a:lnSpc>
                <a:spcPct val="108000"/>
              </a:lnSpc>
              <a:defRPr sz="1080">
                <a:solidFill>
                  <a:srgbClr val="51706D"/>
                </a:solidFill>
                <a:latin typeface="Aptos"/>
              </a:defRPr>
            </a:pPr>
            <a:r>
              <a:t>Cards cl?nicas</a:t>
            </a:r>
          </a:p>
          <a:p>
            <a:pPr>
              <a:lnSpc>
                <a:spcPct val="108000"/>
              </a:lnSpc>
              <a:defRPr sz="1080">
                <a:solidFill>
                  <a:srgbClr val="51706D"/>
                </a:solidFill>
                <a:latin typeface="Aptos"/>
              </a:defRPr>
            </a:pPr>
            <a:r>
              <a:t>Formularios y modales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4892040"/>
            <a:ext cx="10533888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056631"/>
            <a:ext cx="10131552" cy="256032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350" b="1">
                <a:solidFill>
                  <a:srgbClr val="123C3A"/>
                </a:solidFill>
                <a:latin typeface="Aptos"/>
              </a:rPr>
              <a:t>Criterio UX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422392"/>
            <a:ext cx="10131552" cy="164592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lnSpc>
                <a:spcPct val="108000"/>
              </a:lnSpc>
              <a:defRPr sz="1080">
                <a:solidFill>
                  <a:srgbClr val="51706D"/>
                </a:solidFill>
                <a:latin typeface="Aptos"/>
              </a:defRPr>
            </a:pPr>
            <a:r>
              <a:t>La UI est? orientada a flujos de atenci?n repetidos: la prioridad debe ser legibilidad cl?nica, estados completos, feedback de carga/error y consistencia entre formularios, calendarios, PDFs y odontograma.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5961888"/>
            <a:ext cx="10424160" cy="201168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780" b="0">
                <a:solidFill>
                  <a:srgbClr val="51706D"/>
                </a:solidFill>
                <a:latin typeface="Aptos"/>
              </a:rPr>
              <a:t>https://www.figma.com/proto/H1NpvM8BQDP9N5inaqslgB/Quiru?node-id=435-5096&amp;starting-point-node-id=435%3A5096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F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7772400" cy="502920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3000" b="1">
                <a:solidFill>
                  <a:srgbClr val="123C3A"/>
                </a:solidFill>
                <a:latin typeface="Aptos Display"/>
              </a:rPr>
              <a:t>Calidad, seguridad y operaci?n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8503920" cy="310896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250" b="0">
                <a:solidFill>
                  <a:srgbClr val="51706D"/>
                </a:solidFill>
                <a:latin typeface="Aptos"/>
              </a:rPr>
              <a:t>Lectura CSL: riesgos, controles y criterios de aceptaci?n.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16152"/>
            <a:ext cx="1005840" cy="64008"/>
          </a:xfrm>
          <a:prstGeom prst="roundRect">
            <a:avLst/>
          </a:prstGeom>
          <a:solidFill>
            <a:srgbClr val="22C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55664"/>
            <a:ext cx="3657600" cy="201168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850" b="0">
                <a:solidFill>
                  <a:srgbClr val="51706D"/>
                </a:solidFill>
                <a:latin typeface="Aptos"/>
              </a:rPr>
              <a:t>Quiru | Arquitectura del proyecto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37376"/>
            <a:ext cx="411480" cy="228600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>
                <a:solidFill>
                  <a:srgbClr val="15957F"/>
                </a:solidFill>
                <a:latin typeface="Aptos"/>
              </a:rPr>
              <a:t>11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320040"/>
            <a:ext cx="1325880" cy="129945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85800" y="1508760"/>
            <a:ext cx="31546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673351"/>
            <a:ext cx="2752344" cy="256032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350" b="1">
                <a:solidFill>
                  <a:srgbClr val="15957F"/>
                </a:solidFill>
                <a:latin typeface="Aptos"/>
              </a:rPr>
              <a:t>Seguridad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039112"/>
            <a:ext cx="2752344" cy="576072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lnSpc>
                <a:spcPct val="108000"/>
              </a:lnSpc>
              <a:defRPr sz="1080">
                <a:solidFill>
                  <a:srgbClr val="51706D"/>
                </a:solidFill>
                <a:latin typeface="Aptos"/>
              </a:defRPr>
            </a:pPr>
            <a:r>
              <a:t>Revisar reglas Firestore/Storage, RBAC real, variables de entorno y exposici?n de claves.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508760"/>
            <a:ext cx="31546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673351"/>
            <a:ext cx="2752344" cy="256032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350" b="1">
                <a:solidFill>
                  <a:srgbClr val="15957F"/>
                </a:solidFill>
                <a:latin typeface="Aptos"/>
              </a:rPr>
              <a:t>Calidad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039112"/>
            <a:ext cx="2752344" cy="576072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lnSpc>
                <a:spcPct val="108000"/>
              </a:lnSpc>
              <a:defRPr sz="1080">
                <a:solidFill>
                  <a:srgbClr val="51706D"/>
                </a:solidFill>
                <a:latin typeface="Aptos"/>
              </a:defRPr>
            </a:pPr>
            <a:r>
              <a:t>No se observan pruebas automatizadas; priorizar smoke tests de rutas cr?ticas y flujos cl?nicos.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508760"/>
            <a:ext cx="31546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2168" y="1673351"/>
            <a:ext cx="2752344" cy="256032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350" b="1">
                <a:solidFill>
                  <a:srgbClr val="15957F"/>
                </a:solidFill>
                <a:latin typeface="Aptos"/>
              </a:rPr>
              <a:t>Mantenibilidad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2168" y="2039112"/>
            <a:ext cx="2752344" cy="576072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lnSpc>
                <a:spcPct val="108000"/>
              </a:lnSpc>
              <a:defRPr sz="1080">
                <a:solidFill>
                  <a:srgbClr val="51706D"/>
                </a:solidFill>
                <a:latin typeface="Aptos"/>
              </a:defRPr>
            </a:pPr>
            <a:r>
              <a:t>Reducir CRUD duplicado, separar servicios Firebase y dominio, normalizar naming y encoding.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218688"/>
            <a:ext cx="31546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3383280"/>
            <a:ext cx="2752344" cy="256032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350" b="1">
                <a:solidFill>
                  <a:srgbClr val="15957F"/>
                </a:solidFill>
                <a:latin typeface="Aptos"/>
              </a:rPr>
              <a:t>Operaci?n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3749039"/>
            <a:ext cx="2752344" cy="576072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lnSpc>
                <a:spcPct val="108000"/>
              </a:lnSpc>
              <a:defRPr sz="1080">
                <a:solidFill>
                  <a:srgbClr val="51706D"/>
                </a:solidFill>
                <a:latin typeface="Aptos"/>
              </a:defRPr>
            </a:pPr>
            <a:r>
              <a:t>Monitorear errores de voz, calendario, storage y generaci?n PDF; definir KPIs de uso y fallas.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3218688"/>
            <a:ext cx="31546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44568" y="3383280"/>
            <a:ext cx="2752344" cy="256032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350" b="1">
                <a:solidFill>
                  <a:srgbClr val="15957F"/>
                </a:solidFill>
                <a:latin typeface="Aptos"/>
              </a:rPr>
              <a:t>Datos cl?nicos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44568" y="3749039"/>
            <a:ext cx="2752344" cy="576072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lnSpc>
                <a:spcPct val="108000"/>
              </a:lnSpc>
              <a:defRPr sz="1080">
                <a:solidFill>
                  <a:srgbClr val="51706D"/>
                </a:solidFill>
                <a:latin typeface="Aptos"/>
              </a:defRPr>
            </a:pPr>
            <a:r>
              <a:t>Validar trazabilidad, auditor?a, backups, consentimiento y retenci?n documental.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01000" y="3218688"/>
            <a:ext cx="31546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02168" y="3383280"/>
            <a:ext cx="2752344" cy="256032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350" b="1">
                <a:solidFill>
                  <a:srgbClr val="15957F"/>
                </a:solidFill>
                <a:latin typeface="Aptos"/>
              </a:rPr>
              <a:t>UX accesible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02168" y="3749039"/>
            <a:ext cx="2752344" cy="576072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lnSpc>
                <a:spcPct val="108000"/>
              </a:lnSpc>
              <a:defRPr sz="1080">
                <a:solidFill>
                  <a:srgbClr val="51706D"/>
                </a:solidFill>
                <a:latin typeface="Aptos"/>
              </a:defRPr>
            </a:pPr>
            <a:r>
              <a:t>Estados empty/loading/error, foco visible, contraste y dise?o responsivo en flujos densos.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349240"/>
            <a:ext cx="1046988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6968" y="5513831"/>
            <a:ext cx="10067544" cy="256032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350" b="1">
                <a:solidFill>
                  <a:srgbClr val="123C3A"/>
                </a:solidFill>
                <a:latin typeface="Aptos"/>
              </a:rPr>
              <a:t>Criterio de salida recomendado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" y="5879592"/>
            <a:ext cx="10067544" cy="-64007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lnSpc>
                <a:spcPct val="108000"/>
              </a:lnSpc>
              <a:defRPr sz="1080">
                <a:solidFill>
                  <a:srgbClr val="51706D"/>
                </a:solidFill>
                <a:latin typeface="Aptos"/>
              </a:defRPr>
            </a:pPr>
            <a:r>
              <a:t>Build limpio, rutas cr?ticas navegables, reglas Firebase validadas, pruebas m?nimas de auth/paciente/odontograma/citas/PDF y checklist UX accesible.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F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7772400" cy="502920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3000" b="1">
                <a:solidFill>
                  <a:srgbClr val="123C3A"/>
                </a:solidFill>
                <a:latin typeface="Aptos Display"/>
              </a:rPr>
              <a:t>Roadmap arquitect?nico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8503920" cy="310896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250" b="0">
                <a:solidFill>
                  <a:srgbClr val="51706D"/>
                </a:solidFill>
                <a:latin typeface="Aptos"/>
              </a:rPr>
              <a:t>Siguiente evoluci?n propuesta por impacto y riesgo.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16152"/>
            <a:ext cx="1005840" cy="64008"/>
          </a:xfrm>
          <a:prstGeom prst="roundRect">
            <a:avLst/>
          </a:prstGeom>
          <a:solidFill>
            <a:srgbClr val="22C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55664"/>
            <a:ext cx="3657600" cy="201168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850" b="0">
                <a:solidFill>
                  <a:srgbClr val="51706D"/>
                </a:solidFill>
                <a:latin typeface="Aptos"/>
              </a:rPr>
              <a:t>Quiru | Arquitectura del proyecto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37376"/>
            <a:ext cx="411480" cy="228600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>
                <a:solidFill>
                  <a:srgbClr val="15957F"/>
                </a:solidFill>
                <a:latin typeface="Aptos"/>
              </a:rPr>
              <a:t>12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320040"/>
            <a:ext cx="1325880" cy="129945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85800" y="1554480"/>
            <a:ext cx="32918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719072"/>
            <a:ext cx="2889504" cy="256032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350" b="1">
                <a:solidFill>
                  <a:srgbClr val="123C3A"/>
                </a:solidFill>
                <a:latin typeface="Aptos"/>
              </a:rPr>
              <a:t>0-30 d?as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084831"/>
            <a:ext cx="2889504" cy="3639312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lnSpc>
                <a:spcPct val="108000"/>
              </a:lnSpc>
              <a:defRPr sz="1080">
                <a:solidFill>
                  <a:srgbClr val="51706D"/>
                </a:solidFill>
                <a:latin typeface="Aptos"/>
              </a:defRPr>
            </a:pPr>
            <a:r>
              <a:t>Mover configuraci?n a variables de entorno.</a:t>
            </a:r>
          </a:p>
          <a:p>
            <a:pPr>
              <a:lnSpc>
                <a:spcPct val="108000"/>
              </a:lnSpc>
              <a:defRPr sz="1080">
                <a:solidFill>
                  <a:srgbClr val="51706D"/>
                </a:solidFill>
                <a:latin typeface="Aptos"/>
              </a:defRPr>
            </a:pPr>
            <a:r>
              <a:t>Auditar reglas Firebase y roles.</a:t>
            </a:r>
          </a:p>
          <a:p>
            <a:pPr>
              <a:lnSpc>
                <a:spcPct val="108000"/>
              </a:lnSpc>
              <a:defRPr sz="1080">
                <a:solidFill>
                  <a:srgbClr val="51706D"/>
                </a:solidFill>
                <a:latin typeface="Aptos"/>
              </a:defRPr>
            </a:pPr>
            <a:r>
              <a:t>Corregir contrato de rutas p?blicas/protegidas.</a:t>
            </a:r>
          </a:p>
          <a:p>
            <a:pPr>
              <a:lnSpc>
                <a:spcPct val="108000"/>
              </a:lnSpc>
              <a:defRPr sz="1080">
                <a:solidFill>
                  <a:srgbClr val="51706D"/>
                </a:solidFill>
                <a:latin typeface="Aptos"/>
              </a:defRPr>
            </a:pPr>
            <a:r>
              <a:t>Agregar smoke tests de login, pacientes, citas y odontograma.</a:t>
            </a:r>
          </a:p>
          <a:p>
            <a:pPr>
              <a:lnSpc>
                <a:spcPct val="108000"/>
              </a:lnSpc>
              <a:defRPr sz="1080">
                <a:solidFill>
                  <a:srgbClr val="51706D"/>
                </a:solidFill>
                <a:latin typeface="Aptos"/>
              </a:defRPr>
            </a:pPr>
            <a:r>
              <a:t>Documentar modelo Firestore actual.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554480"/>
            <a:ext cx="32918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1719072"/>
            <a:ext cx="2889504" cy="256032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350" b="1">
                <a:solidFill>
                  <a:srgbClr val="123C3A"/>
                </a:solidFill>
                <a:latin typeface="Aptos"/>
              </a:rPr>
              <a:t>30-90 d?as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2084831"/>
            <a:ext cx="2889504" cy="3639312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lnSpc>
                <a:spcPct val="108000"/>
              </a:lnSpc>
              <a:defRPr sz="1080">
                <a:solidFill>
                  <a:srgbClr val="51706D"/>
                </a:solidFill>
                <a:latin typeface="Aptos"/>
              </a:defRPr>
            </a:pPr>
            <a:r>
              <a:t>Extraer capa services/repositories para Firebase.</a:t>
            </a:r>
          </a:p>
          <a:p>
            <a:pPr>
              <a:lnSpc>
                <a:spcPct val="108000"/>
              </a:lnSpc>
              <a:defRPr sz="1080">
                <a:solidFill>
                  <a:srgbClr val="51706D"/>
                </a:solidFill>
                <a:latin typeface="Aptos"/>
              </a:defRPr>
            </a:pPr>
            <a:r>
              <a:t>Normalizar manejo de errores y loading states.</a:t>
            </a:r>
          </a:p>
          <a:p>
            <a:pPr>
              <a:lnSpc>
                <a:spcPct val="108000"/>
              </a:lnSpc>
              <a:defRPr sz="1080">
                <a:solidFill>
                  <a:srgbClr val="51706D"/>
                </a:solidFill>
                <a:latin typeface="Aptos"/>
              </a:defRPr>
            </a:pPr>
            <a:r>
              <a:t>Introducir stores tipados o Pinia por dominio cr?tico.</a:t>
            </a:r>
          </a:p>
          <a:p>
            <a:pPr>
              <a:lnSpc>
                <a:spcPct val="108000"/>
              </a:lnSpc>
              <a:defRPr sz="1080">
                <a:solidFill>
                  <a:srgbClr val="51706D"/>
                </a:solidFill>
                <a:latin typeface="Aptos"/>
              </a:defRPr>
            </a:pPr>
            <a:r>
              <a:t>Alinear tokens visuales con Figma y componentes reutilizables.</a:t>
            </a:r>
          </a:p>
          <a:p>
            <a:pPr>
              <a:lnSpc>
                <a:spcPct val="108000"/>
              </a:lnSpc>
              <a:defRPr sz="1080">
                <a:solidFill>
                  <a:srgbClr val="51706D"/>
                </a:solidFill>
                <a:latin typeface="Aptos"/>
              </a:defRPr>
            </a:pPr>
            <a:r>
              <a:t>Observabilidad para voz, calendario, storage y PDFs.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554480"/>
            <a:ext cx="32918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5048" y="1719072"/>
            <a:ext cx="2889504" cy="256032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350" b="1">
                <a:solidFill>
                  <a:srgbClr val="123C3A"/>
                </a:solidFill>
                <a:latin typeface="Aptos"/>
              </a:rPr>
              <a:t>90+ d?as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5048" y="2084831"/>
            <a:ext cx="2889504" cy="3639312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lnSpc>
                <a:spcPct val="108000"/>
              </a:lnSpc>
              <a:defRPr sz="1080">
                <a:solidFill>
                  <a:srgbClr val="51706D"/>
                </a:solidFill>
                <a:latin typeface="Aptos"/>
              </a:defRPr>
            </a:pPr>
            <a:r>
              <a:t>Auditor?a cl?nica y trazabilidad de cambios.</a:t>
            </a:r>
          </a:p>
          <a:p>
            <a:pPr>
              <a:lnSpc>
                <a:spcPct val="108000"/>
              </a:lnSpc>
              <a:defRPr sz="1080">
                <a:solidFill>
                  <a:srgbClr val="51706D"/>
                </a:solidFill>
                <a:latin typeface="Aptos"/>
              </a:defRPr>
            </a:pPr>
            <a:r>
              <a:t>Backups y retenci?n documental formal.</a:t>
            </a:r>
          </a:p>
          <a:p>
            <a:pPr>
              <a:lnSpc>
                <a:spcPct val="108000"/>
              </a:lnSpc>
              <a:defRPr sz="1080">
                <a:solidFill>
                  <a:srgbClr val="51706D"/>
                </a:solidFill>
                <a:latin typeface="Aptos"/>
              </a:defRPr>
            </a:pPr>
            <a:r>
              <a:t>Cloud Functions para l?gica sensible.</a:t>
            </a:r>
          </a:p>
          <a:p>
            <a:pPr>
              <a:lnSpc>
                <a:spcPct val="108000"/>
              </a:lnSpc>
              <a:defRPr sz="1080">
                <a:solidFill>
                  <a:srgbClr val="51706D"/>
                </a:solidFill>
                <a:latin typeface="Aptos"/>
              </a:defRPr>
            </a:pPr>
            <a:r>
              <a:t>CI/CD con validaciones autom?ticas.</a:t>
            </a:r>
          </a:p>
          <a:p>
            <a:pPr>
              <a:lnSpc>
                <a:spcPct val="108000"/>
              </a:lnSpc>
              <a:defRPr sz="1080">
                <a:solidFill>
                  <a:srgbClr val="51706D"/>
                </a:solidFill>
                <a:latin typeface="Aptos"/>
              </a:defRPr>
            </a:pPr>
            <a:r>
              <a:t>M?tricas CSL: calidad, adopci?n, fallas y tiempos de atenci?n.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66160" y="6053328"/>
            <a:ext cx="5120640" cy="310896"/>
          </a:xfrm>
          <a:prstGeom prst="roundRect">
            <a:avLst/>
          </a:prstGeom>
          <a:solidFill>
            <a:srgbClr val="DCF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19" b="1">
                <a:solidFill>
                  <a:srgbClr val="15957F"/>
                </a:solidFill>
                <a:latin typeface="Aptos"/>
              </a:rPr>
              <a:t>Prioridad: seguridad + calidad antes de escalar funcionalidades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F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7772400" cy="502920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3000" b="1">
                <a:solidFill>
                  <a:srgbClr val="123C3A"/>
                </a:solidFill>
                <a:latin typeface="Aptos Display"/>
              </a:rPr>
              <a:t>Referencias revisadas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8503920" cy="310896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250" b="0">
                <a:solidFill>
                  <a:srgbClr val="51706D"/>
                </a:solidFill>
                <a:latin typeface="Aptos"/>
              </a:rPr>
              <a:t>Fuentes locales y externas usadas para construir el deck.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16152"/>
            <a:ext cx="1005840" cy="64008"/>
          </a:xfrm>
          <a:prstGeom prst="roundRect">
            <a:avLst/>
          </a:prstGeom>
          <a:solidFill>
            <a:srgbClr val="22C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55664"/>
            <a:ext cx="3657600" cy="201168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850" b="0">
                <a:solidFill>
                  <a:srgbClr val="51706D"/>
                </a:solidFill>
                <a:latin typeface="Aptos"/>
              </a:rPr>
              <a:t>Quiru | Arquitectura del proyecto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37376"/>
            <a:ext cx="411480" cy="228600"/>
          </a:xfrm>
          <a:prstGeom prst="rect">
            <a:avLst/>
          </a:prstGeom>
          <a:noFill/>
        </p:spPr>
        <p:txBody>
          <a:bodyPr wrap="none" lIns="25400" rIns="2540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>
                <a:solidFill>
                  <a:srgbClr val="15957F"/>
                </a:solidFill>
                <a:latin typeface="Aptos"/>
              </a:rPr>
              <a:t>13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320040"/>
            <a:ext cx="1325880" cy="129945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554480"/>
          <a:ext cx="1101852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5120640"/>
                <a:gridCol w="4480560"/>
              </a:tblGrid>
              <a:tr h="600891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Tipo</a:t>
                      </a:r>
                    </a:p>
                  </a:txBody>
                  <a:tcPr marL="76200" marR="76200" marT="50800" marB="50800">
                    <a:solidFill>
                      <a:srgbClr val="1595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Referencia</a:t>
                      </a:r>
                    </a:p>
                  </a:txBody>
                  <a:tcPr marL="76200" marR="76200" marT="50800" marB="50800">
                    <a:solidFill>
                      <a:srgbClr val="15957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Uso</a:t>
                      </a:r>
                    </a:p>
                  </a:txBody>
                  <a:tcPr marL="76200" marR="76200" marT="50800" marB="50800">
                    <a:solidFill>
                      <a:srgbClr val="15957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980" b="0">
                          <a:solidFill>
                            <a:srgbClr val="123C3A"/>
                          </a:solidFill>
                          <a:latin typeface="Aptos"/>
                        </a:defRPr>
                      </a:pPr>
                      <a:r>
                        <a:t>Perfiles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 b="0">
                          <a:solidFill>
                            <a:srgbClr val="123C3A"/>
                          </a:solidFill>
                          <a:latin typeface="Aptos"/>
                        </a:defRPr>
                      </a:pPr>
                      <a:r>
                        <a:t>Agentes/experoVUE.md, Agentes/ExpertoUXUI.md, Agentes/csl.md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 b="0">
                          <a:solidFill>
                            <a:srgbClr val="123C3A"/>
                          </a:solidFill>
                          <a:latin typeface="Aptos"/>
                        </a:defRPr>
                      </a:pPr>
                      <a:r>
                        <a:t>Lentes t?cnico, UX/UI y operaci?n/calidad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980" b="0">
                          <a:solidFill>
                            <a:srgbClr val="123C3A"/>
                          </a:solidFill>
                          <a:latin typeface="Aptos"/>
                        </a:defRPr>
                      </a:pPr>
                      <a:r>
                        <a:t>Entrada app</a:t>
                      </a:r>
                    </a:p>
                  </a:txBody>
                  <a:tcPr marL="76200" marR="76200" marT="50800" marB="50800">
                    <a:solidFill>
                      <a:srgbClr val="ECF8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 b="0">
                          <a:solidFill>
                            <a:srgbClr val="123C3A"/>
                          </a:solidFill>
                          <a:latin typeface="Aptos"/>
                        </a:defRPr>
                      </a:pPr>
                      <a:r>
                        <a:t>src/main.js, src/App.vue</a:t>
                      </a:r>
                    </a:p>
                  </a:txBody>
                  <a:tcPr marL="76200" marR="76200" marT="50800" marB="50800">
                    <a:solidFill>
                      <a:srgbClr val="ECF8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 b="0">
                          <a:solidFill>
                            <a:srgbClr val="123C3A"/>
                          </a:solidFill>
                          <a:latin typeface="Aptos"/>
                        </a:defRPr>
                      </a:pPr>
                      <a:r>
                        <a:t>Inicializaci?n Firebase, componentes globales, router y sesi?n</a:t>
                      </a:r>
                    </a:p>
                  </a:txBody>
                  <a:tcPr marL="76200" marR="76200" marT="50800" marB="50800">
                    <a:solidFill>
                      <a:srgbClr val="ECF8F4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980" b="0">
                          <a:solidFill>
                            <a:srgbClr val="123C3A"/>
                          </a:solidFill>
                          <a:latin typeface="Aptos"/>
                        </a:defRPr>
                      </a:pPr>
                      <a:r>
                        <a:t>Routing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 b="0">
                          <a:solidFill>
                            <a:srgbClr val="123C3A"/>
                          </a:solidFill>
                          <a:latin typeface="Aptos"/>
                        </a:defRPr>
                      </a:pPr>
                      <a:r>
                        <a:t>src/config/router.js, src/views/dashboard.vue, src/components/Nav.vue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 b="0">
                          <a:solidFill>
                            <a:srgbClr val="123C3A"/>
                          </a:solidFill>
                          <a:latin typeface="Aptos"/>
                        </a:defRPr>
                      </a:pPr>
                      <a:r>
                        <a:t>Rutas p?blicas/protegidas, shell autenticada y navegaci?n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980" b="0">
                          <a:solidFill>
                            <a:srgbClr val="123C3A"/>
                          </a:solidFill>
                          <a:latin typeface="Aptos"/>
                        </a:defRPr>
                      </a:pPr>
                      <a:r>
                        <a:t>Datos</a:t>
                      </a:r>
                    </a:p>
                  </a:txBody>
                  <a:tcPr marL="76200" marR="76200" marT="50800" marB="50800">
                    <a:solidFill>
                      <a:srgbClr val="ECF8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 b="0">
                          <a:solidFill>
                            <a:srgbClr val="123C3A"/>
                          </a:solidFill>
                          <a:latin typeface="Aptos"/>
                        </a:defRPr>
                      </a:pPr>
                      <a:r>
                        <a:t>src/store/*.js</a:t>
                      </a:r>
                    </a:p>
                  </a:txBody>
                  <a:tcPr marL="76200" marR="76200" marT="50800" marB="50800">
                    <a:solidFill>
                      <a:srgbClr val="ECF8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 b="0">
                          <a:solidFill>
                            <a:srgbClr val="123C3A"/>
                          </a:solidFill>
                          <a:latin typeface="Aptos"/>
                        </a:defRPr>
                      </a:pPr>
                      <a:r>
                        <a:t>Firestore, Storage, sesi?n, odontograma, citas, PDFs y dominio cl?nico</a:t>
                      </a:r>
                    </a:p>
                  </a:txBody>
                  <a:tcPr marL="76200" marR="76200" marT="50800" marB="50800">
                    <a:solidFill>
                      <a:srgbClr val="ECF8F4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980" b="0">
                          <a:solidFill>
                            <a:srgbClr val="123C3A"/>
                          </a:solidFill>
                          <a:latin typeface="Aptos"/>
                        </a:defRPr>
                      </a:pPr>
                      <a:r>
                        <a:t>UI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 b="0">
                          <a:solidFill>
                            <a:srgbClr val="123C3A"/>
                          </a:solidFill>
                          <a:latin typeface="Aptos"/>
                        </a:defRPr>
                      </a:pPr>
                      <a:r>
                        <a:t>src/config/basics.sass, componentes uikit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 b="0">
                          <a:solidFill>
                            <a:srgbClr val="123C3A"/>
                          </a:solidFill>
                          <a:latin typeface="Aptos"/>
                        </a:defRPr>
                      </a:pPr>
                      <a:r>
                        <a:t>Tokens visuales, estilos base, formularios y modales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600894">
                <a:tc>
                  <a:txBody>
                    <a:bodyPr/>
                    <a:lstStyle/>
                    <a:p>
                      <a:pPr>
                        <a:defRPr sz="980" b="0">
                          <a:solidFill>
                            <a:srgbClr val="123C3A"/>
                          </a:solidFill>
                          <a:latin typeface="Aptos"/>
                        </a:defRPr>
                      </a:pPr>
                      <a:r>
                        <a:t>Figma</a:t>
                      </a:r>
                    </a:p>
                  </a:txBody>
                  <a:tcPr marL="76200" marR="76200" marT="50800" marB="50800">
                    <a:solidFill>
                      <a:srgbClr val="ECF8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 b="0">
                          <a:solidFill>
                            <a:srgbClr val="123C3A"/>
                          </a:solidFill>
                          <a:latin typeface="Aptos"/>
                        </a:defRPr>
                      </a:pPr>
                      <a:r>
                        <a:t>https://www.figma.com/proto/H1NpvM8BQDP9N5inaqslgB/Quiru?node-id=435-5096&amp;starting-point-node-id=435%3A5096</a:t>
                      </a:r>
                    </a:p>
                  </a:txBody>
                  <a:tcPr marL="76200" marR="76200" marT="50800" marB="50800">
                    <a:solidFill>
                      <a:srgbClr val="ECF8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 b="0">
                          <a:solidFill>
                            <a:srgbClr val="123C3A"/>
                          </a:solidFill>
                          <a:latin typeface="Aptos"/>
                        </a:defRPr>
                      </a:pPr>
                      <a:r>
                        <a:t>T?tulo, thumbnail p?blico y referencia visual disponible v?a oEmbed</a:t>
                      </a:r>
                    </a:p>
                  </a:txBody>
                  <a:tcPr marL="76200" marR="76200" marT="50800" marB="50800">
                    <a:solidFill>
                      <a:srgbClr val="ECF8F4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85800" y="5925312"/>
            <a:ext cx="1065276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6455664"/>
            <a:ext cx="10250424" cy="-246887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lnSpc>
                <a:spcPct val="108000"/>
              </a:lnSpc>
              <a:defRPr sz="1080">
                <a:solidFill>
                  <a:srgbClr val="51706D"/>
                </a:solidFill>
                <a:latin typeface="Aptos"/>
              </a:defRPr>
            </a:pPr>
            <a:r>
              <a:t>Nota: el prototipo de Figma se consider? con metadatos/thumbnail p?blicos; para inspecci?n de frames internos se requerir?a acceso autenticado o token Figma.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Quiru - Arquitectura del proyecto</dc:title>
  <dc:subject>Arquitectura t?cnica, UX/UI y operaci?n del proyecto Quiru</dc:subject>
  <dc:creator>Codex</dc:creator>
  <cp:keywords/>
  <dc:description>Generado a partir del c?digo local, perfiles de Agentes y referencia p?blica oEmbed de Figma.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