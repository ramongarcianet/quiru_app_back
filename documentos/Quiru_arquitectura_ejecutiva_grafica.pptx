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502920"/>
            <a:ext cx="1920240" cy="188196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713232"/>
            <a:ext cx="1874519" cy="292608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DCF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960" b="1">
                <a:solidFill>
                  <a:srgbClr val="15957F"/>
                </a:solidFill>
                <a:latin typeface="Aptos"/>
              </a:rPr>
              <a:t>Arquitectura ejecutiva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261872"/>
            <a:ext cx="4389120" cy="59436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4400" b="1">
                <a:solidFill>
                  <a:srgbClr val="123C3A"/>
                </a:solidFill>
                <a:latin typeface="Aptos Display"/>
              </a:rPr>
              <a:t>Quiru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6400800" cy="45720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2500" b="1">
                <a:solidFill>
                  <a:srgbClr val="15957F"/>
                </a:solidFill>
                <a:latin typeface="Aptos Display"/>
              </a:rPr>
              <a:t>Interconexiones de voz, web y nube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615184"/>
            <a:ext cx="5760720" cy="73152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320" b="0">
                <a:solidFill>
                  <a:srgbClr val="51706D"/>
                </a:solidFill>
                <a:latin typeface="Aptos"/>
              </a:defRPr>
            </a:pPr>
            <a:r>
              <a:t>Vista gr?fica para explicar c?mo se conectan cliente, odont?logo, quiru_app, Firebase, Annyang y Google Cloud NLP.</a:t>
            </a:r>
          </a:p>
          <a:p>
            <a:pPr>
              <a:lnSpc>
                <a:spcPct val="105000"/>
              </a:lnSpc>
              <a:defRPr sz="1320" b="0">
                <a:solidFill>
                  <a:srgbClr val="51706D"/>
                </a:solidFill>
                <a:latin typeface="Aptos"/>
              </a:defRPr>
            </a:pPr>
            <a:r>
              <a:t>Preparada para conversaci?n ejecutiva: responsabilidades, flujos y puntos de control.</a:t>
            </a:r>
          </a:p>
        </p:txBody>
      </p:sp>
      <p:sp>
        <p:nvSpPr>
          <p:cNvPr id="7" name="Oval 6"/>
          <p:cNvSpPr/>
          <p:nvPr/>
        </p:nvSpPr>
        <p:spPr>
          <a:xfrm>
            <a:off x="7333488" y="1508760"/>
            <a:ext cx="438912" cy="438912"/>
          </a:xfrm>
          <a:prstGeom prst="ellipse">
            <a:avLst/>
          </a:prstGeom>
          <a:solidFill>
            <a:srgbClr val="FF8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59752" y="1965960"/>
            <a:ext cx="786384" cy="6217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F8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79" y="2651760"/>
            <a:ext cx="1508760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1080" b="1">
                <a:solidFill>
                  <a:srgbClr val="123C3A"/>
                </a:solidFill>
                <a:latin typeface="Aptos"/>
              </a:rPr>
              <a:t>Cliente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907791"/>
            <a:ext cx="1691640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80" b="0">
                <a:solidFill>
                  <a:srgbClr val="51706D"/>
                </a:solidFill>
                <a:latin typeface="Aptos"/>
              </a:rPr>
              <a:t>Paciente</a:t>
            </a:r>
          </a:p>
        </p:txBody>
      </p:sp>
      <p:sp>
        <p:nvSpPr>
          <p:cNvPr id="11" name="Oval 10"/>
          <p:cNvSpPr/>
          <p:nvPr/>
        </p:nvSpPr>
        <p:spPr>
          <a:xfrm>
            <a:off x="7333488" y="3886200"/>
            <a:ext cx="438912" cy="438912"/>
          </a:xfrm>
          <a:prstGeom prst="ellipse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59752" y="4343400"/>
            <a:ext cx="786384" cy="6217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79" y="5029200"/>
            <a:ext cx="1508760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1080" b="1">
                <a:solidFill>
                  <a:srgbClr val="123C3A"/>
                </a:solidFill>
                <a:latin typeface="Aptos"/>
              </a:rPr>
              <a:t>Odont?logo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5285232"/>
            <a:ext cx="1691640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80" b="0">
                <a:solidFill>
                  <a:srgbClr val="51706D"/>
                </a:solidFill>
                <a:latin typeface="Aptos"/>
              </a:rPr>
              <a:t>Usuario cl?nico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965960"/>
            <a:ext cx="210312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39112"/>
            <a:ext cx="1956815" cy="384048"/>
          </a:xfrm>
          <a:prstGeom prst="roundRect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67928" y="2157984"/>
            <a:ext cx="73152" cy="73152"/>
          </a:xfrm>
          <a:prstGeom prst="ellipse">
            <a:avLst/>
          </a:prstGeom>
          <a:solidFill>
            <a:srgbClr val="D6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50808" y="2157984"/>
            <a:ext cx="73152" cy="73152"/>
          </a:xfrm>
          <a:prstGeom prst="ellipse">
            <a:avLst/>
          </a:prstGeom>
          <a:solidFill>
            <a:srgbClr val="F6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33688" y="2157984"/>
            <a:ext cx="73152" cy="73152"/>
          </a:xfrm>
          <a:prstGeom prst="ellipse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2130552"/>
            <a:ext cx="1188719" cy="18288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880" b="0">
                <a:solidFill>
                  <a:srgbClr val="51706D"/>
                </a:solidFill>
                <a:latin typeface="Aptos"/>
              </a:rPr>
              <a:t>quiru_app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68512" y="2587752"/>
            <a:ext cx="1499616" cy="658368"/>
          </a:xfrm>
          <a:prstGeom prst="roundRect">
            <a:avLst/>
          </a:prstGeom>
          <a:solidFill>
            <a:srgbClr val="15957F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Web Quiru App
Vue SPA</a:t>
            </a:r>
          </a:p>
        </p:txBody>
      </p:sp>
      <p:sp>
        <p:nvSpPr>
          <p:cNvPr id="22" name="Cloud 21"/>
          <p:cNvSpPr/>
          <p:nvPr/>
        </p:nvSpPr>
        <p:spPr>
          <a:xfrm>
            <a:off x="10104120" y="2240280"/>
            <a:ext cx="1417320" cy="1325880"/>
          </a:xfrm>
          <a:prstGeom prst="cloud">
            <a:avLst/>
          </a:prstGeom>
          <a:solidFill>
            <a:srgbClr val="DCFBF3"/>
          </a:solidFill>
          <a:ln w="15240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0" y="2496312"/>
            <a:ext cx="96012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1240" b="1">
                <a:solidFill>
                  <a:srgbClr val="123C3A"/>
                </a:solidFill>
                <a:latin typeface="Aptos"/>
              </a:rPr>
              <a:t>Firebase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2862072"/>
            <a:ext cx="777240" cy="54864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t>Auth</a:t>
            </a:r>
          </a:p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t>Firestore</a:t>
            </a:r>
          </a:p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001000" y="2240280"/>
            <a:ext cx="502920" cy="164592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7848" y="2011680"/>
            <a:ext cx="731520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19" b="0">
                <a:solidFill>
                  <a:srgbClr val="51706D"/>
                </a:solidFill>
                <a:latin typeface="Aptos"/>
              </a:rPr>
              <a:t>datos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001000" y="4617720"/>
            <a:ext cx="502920" cy="164592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7848" y="4389120"/>
            <a:ext cx="731520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19" b="0">
                <a:solidFill>
                  <a:srgbClr val="51706D"/>
                </a:solidFill>
                <a:latin typeface="Aptos"/>
              </a:rPr>
              <a:t>voz + atenci?n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0195560" y="2880360"/>
            <a:ext cx="438912" cy="164592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22408" y="2651760"/>
            <a:ext cx="667512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19" b="0">
                <a:solidFill>
                  <a:srgbClr val="51706D"/>
                </a:solidFill>
                <a:latin typeface="Aptos"/>
              </a:rPr>
              <a:t>sync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46520"/>
            <a:ext cx="3840480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840" b="0">
                <a:solidFill>
                  <a:srgbClr val="51706D"/>
                </a:solidFill>
                <a:latin typeface="Aptos"/>
              </a:rPr>
              <a:t>Quiru | Arquitectura ejecutiva gr?fica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/>
            <a:r>
              <a:rPr sz="919" b="1">
                <a:solidFill>
                  <a:srgbClr val="15957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046720" cy="5029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2900" b="1">
                <a:solidFill>
                  <a:srgbClr val="123C3A"/>
                </a:solidFill>
                <a:latin typeface="Aptos Display"/>
              </a:rPr>
              <a:t>Arquitectura gr?fica de interconexiones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9536"/>
            <a:ext cx="9326880" cy="29260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20" b="0">
                <a:solidFill>
                  <a:srgbClr val="51706D"/>
                </a:solidFill>
                <a:latin typeface="Aptos"/>
              </a:rPr>
              <a:t>Vista de alto nivel: actores, navegador, aplicaci?n, voz, Firebase y Google Cloud NLP.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207008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3840480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840" b="0">
                <a:solidFill>
                  <a:srgbClr val="51706D"/>
                </a:solidFill>
                <a:latin typeface="Aptos"/>
              </a:rPr>
              <a:t>Quiru | Arquitectura ejecutiva gr?fica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/>
            <a:r>
              <a:rPr sz="919" b="1">
                <a:solidFill>
                  <a:srgbClr val="15957F"/>
                </a:solidFill>
                <a:latin typeface="Aptos"/>
              </a:rPr>
              <a:t>02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92608"/>
            <a:ext cx="1508760" cy="147868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1042415" y="1828800"/>
            <a:ext cx="438912" cy="438912"/>
          </a:xfrm>
          <a:prstGeom prst="ellipse">
            <a:avLst/>
          </a:prstGeom>
          <a:solidFill>
            <a:srgbClr val="FF8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286000"/>
            <a:ext cx="786384" cy="6217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F8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2971800"/>
            <a:ext cx="1508760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1080" b="1">
                <a:solidFill>
                  <a:srgbClr val="123C3A"/>
                </a:solidFill>
                <a:latin typeface="Aptos"/>
              </a:rPr>
              <a:t>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227832"/>
            <a:ext cx="1691640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80" b="0">
                <a:solidFill>
                  <a:srgbClr val="51706D"/>
                </a:solidFill>
                <a:latin typeface="Aptos"/>
              </a:rPr>
              <a:t>Datos, citas, consentimiento</a:t>
            </a:r>
          </a:p>
        </p:txBody>
      </p:sp>
      <p:sp>
        <p:nvSpPr>
          <p:cNvPr id="12" name="Oval 11"/>
          <p:cNvSpPr/>
          <p:nvPr/>
        </p:nvSpPr>
        <p:spPr>
          <a:xfrm>
            <a:off x="1042415" y="4069080"/>
            <a:ext cx="438912" cy="438912"/>
          </a:xfrm>
          <a:prstGeom prst="ellipse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4526280"/>
            <a:ext cx="786384" cy="6217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5212080"/>
            <a:ext cx="1508760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1080" b="1">
                <a:solidFill>
                  <a:srgbClr val="123C3A"/>
                </a:solidFill>
                <a:latin typeface="Aptos"/>
              </a:rPr>
              <a:t>Odont?logo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5468112"/>
            <a:ext cx="1691640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80" b="0">
                <a:solidFill>
                  <a:srgbClr val="51706D"/>
                </a:solidFill>
                <a:latin typeface="Aptos"/>
              </a:rPr>
              <a:t>Atenci?n, dictado, gesti?n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3160" y="1508760"/>
            <a:ext cx="41605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496312" y="1581912"/>
            <a:ext cx="4014215" cy="384048"/>
          </a:xfrm>
          <a:prstGeom prst="roundRect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624328" y="1700784"/>
            <a:ext cx="73152" cy="73152"/>
          </a:xfrm>
          <a:prstGeom prst="ellipse">
            <a:avLst/>
          </a:prstGeom>
          <a:solidFill>
            <a:srgbClr val="D6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07208" y="1700784"/>
            <a:ext cx="73152" cy="73152"/>
          </a:xfrm>
          <a:prstGeom prst="ellipse">
            <a:avLst/>
          </a:prstGeom>
          <a:solidFill>
            <a:srgbClr val="F6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90088" y="1700784"/>
            <a:ext cx="73152" cy="73152"/>
          </a:xfrm>
          <a:prstGeom prst="ellipse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0" y="1673351"/>
            <a:ext cx="3246120" cy="18288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880" b="0">
                <a:solidFill>
                  <a:srgbClr val="51706D"/>
                </a:solidFill>
                <a:latin typeface="Aptos"/>
              </a:rPr>
              <a:t>Navegador web / dispositivo del usuario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2057400"/>
            <a:ext cx="3063240" cy="960120"/>
          </a:xfrm>
          <a:prstGeom prst="roundRect">
            <a:avLst/>
          </a:prstGeom>
          <a:solidFill>
            <a:srgbClr val="15957F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quiru_app Web
Vue 3 SPA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3337560"/>
            <a:ext cx="914400" cy="310896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80" b="1">
                <a:solidFill>
                  <a:srgbClr val="123C3A"/>
                </a:solidFill>
                <a:latin typeface="Aptos"/>
              </a:rPr>
              <a:t>Pacientes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67328" y="3337560"/>
            <a:ext cx="713232" cy="310896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80" b="1">
                <a:solidFill>
                  <a:srgbClr val="123C3A"/>
                </a:solidFill>
                <a:latin typeface="Aptos"/>
              </a:rPr>
              <a:t>Citas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90288" y="3337560"/>
            <a:ext cx="987552" cy="310896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80" b="1">
                <a:solidFill>
                  <a:srgbClr val="123C3A"/>
                </a:solidFill>
                <a:latin typeface="Aptos"/>
              </a:rPr>
              <a:t>Admisi?n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3767328"/>
            <a:ext cx="1225296" cy="310896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80" b="1">
                <a:solidFill>
                  <a:srgbClr val="123C3A"/>
                </a:solidFill>
                <a:latin typeface="Aptos"/>
              </a:rPr>
              <a:t>Odontograma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96512" y="3767328"/>
            <a:ext cx="621792" cy="310896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80" b="1">
                <a:solidFill>
                  <a:srgbClr val="123C3A"/>
                </a:solidFill>
                <a:latin typeface="Aptos"/>
              </a:rPr>
              <a:t>Plan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28032" y="3767328"/>
            <a:ext cx="530352" cy="310896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80" b="1">
                <a:solidFill>
                  <a:srgbClr val="123C3A"/>
                </a:solidFill>
                <a:latin typeface="Aptos"/>
              </a:rPr>
              <a:t>PDF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07792" y="4572000"/>
            <a:ext cx="3200400" cy="658368"/>
          </a:xfrm>
          <a:prstGeom prst="roundRect">
            <a:avLst/>
          </a:prstGeom>
          <a:solidFill>
            <a:srgbClr val="FFF6DA"/>
          </a:solidFill>
          <a:ln w="13335">
            <a:solidFill>
              <a:srgbClr val="F6B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050" b="1">
                <a:solidFill>
                  <a:srgbClr val="123C3A"/>
                </a:solidFill>
                <a:latin typeface="Aptos"/>
              </a:rPr>
              <a:t>Annyang + Web Speech API
Reconocimiento de voz en navegador</a:t>
            </a:r>
          </a:p>
        </p:txBody>
      </p:sp>
      <p:sp>
        <p:nvSpPr>
          <p:cNvPr id="30" name="Cloud 29"/>
          <p:cNvSpPr/>
          <p:nvPr/>
        </p:nvSpPr>
        <p:spPr>
          <a:xfrm>
            <a:off x="7452360" y="1417320"/>
            <a:ext cx="3063240" cy="1965960"/>
          </a:xfrm>
          <a:prstGeom prst="cloud">
            <a:avLst/>
          </a:prstGeom>
          <a:solidFill>
            <a:srgbClr val="DCFBF3"/>
          </a:solidFill>
          <a:ln w="15240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0" y="1673352"/>
            <a:ext cx="260604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1240" b="1">
                <a:solidFill>
                  <a:srgbClr val="123C3A"/>
                </a:solidFill>
                <a:latin typeface="Aptos"/>
              </a:rPr>
              <a:t>Firebase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2039112"/>
            <a:ext cx="2423160" cy="1188719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t>Hosting: entrega app</a:t>
            </a:r>
          </a:p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t>Auth: identidad</a:t>
            </a:r>
          </a:p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t>Firestore: datos cl?nicos</a:t>
            </a:r>
          </a:p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t>Storage: archivos</a:t>
            </a:r>
          </a:p>
        </p:txBody>
      </p:sp>
      <p:sp>
        <p:nvSpPr>
          <p:cNvPr id="33" name="Cloud 32"/>
          <p:cNvSpPr/>
          <p:nvPr/>
        </p:nvSpPr>
        <p:spPr>
          <a:xfrm>
            <a:off x="7607808" y="3977639"/>
            <a:ext cx="2834640" cy="1691640"/>
          </a:xfrm>
          <a:prstGeom prst="cloud">
            <a:avLst/>
          </a:prstGeom>
          <a:solidFill>
            <a:srgbClr val="E2EEFF"/>
          </a:solidFill>
          <a:ln w="15240">
            <a:solidFill>
              <a:srgbClr val="376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36408" y="4233672"/>
            <a:ext cx="237744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1240" b="1">
                <a:solidFill>
                  <a:srgbClr val="123C3A"/>
                </a:solidFill>
                <a:latin typeface="Aptos"/>
              </a:rPr>
              <a:t>Google Cloud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27848" y="4599431"/>
            <a:ext cx="2194560" cy="91440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t>Machine Learning / NLP</a:t>
            </a:r>
          </a:p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t>Cloud Function corecttext</a:t>
            </a:r>
          </a:p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t>normalizaci?n de lenguaje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38360" y="5559552"/>
            <a:ext cx="1691640" cy="65836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950" b="1">
                <a:solidFill>
                  <a:srgbClr val="123C3A"/>
                </a:solidFill>
                <a:latin typeface="Aptos"/>
              </a:rPr>
              <a:t>Google Calendar API
agenda y disponibilidad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783080" y="2523744"/>
            <a:ext cx="658368" cy="164592"/>
          </a:xfrm>
          <a:prstGeom prst="rightArrow">
            <a:avLst/>
          </a:prstGeom>
          <a:solidFill>
            <a:srgbClr val="FF8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09928" y="2295144"/>
            <a:ext cx="886968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19" b="0">
                <a:solidFill>
                  <a:srgbClr val="51706D"/>
                </a:solidFill>
                <a:latin typeface="Aptos"/>
              </a:rPr>
              <a:t>datos / citas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783080" y="4736592"/>
            <a:ext cx="658368" cy="164592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09928" y="4507992"/>
            <a:ext cx="886968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19" b="0">
                <a:solidFill>
                  <a:srgbClr val="51706D"/>
                </a:solidFill>
                <a:latin typeface="Aptos"/>
              </a:rPr>
              <a:t>atenci?n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508760" y="4617720"/>
            <a:ext cx="1399032" cy="283464"/>
          </a:xfrm>
          <a:prstGeom prst="line">
            <a:avLst/>
          </a:prstGeom>
          <a:ln w="22860">
            <a:solidFill>
              <a:srgbClr val="F6BF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057400" y="4736592"/>
            <a:ext cx="320040" cy="16459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80" b="0">
                <a:solidFill>
                  <a:srgbClr val="51706D"/>
                </a:solidFill>
                <a:latin typeface="Aptos"/>
              </a:rPr>
              <a:t>voz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6446520" y="2395728"/>
            <a:ext cx="1143000" cy="164592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73368" y="2167128"/>
            <a:ext cx="1371600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19" b="0">
                <a:solidFill>
                  <a:srgbClr val="51706D"/>
                </a:solidFill>
                <a:latin typeface="Aptos"/>
              </a:rPr>
              <a:t>auth + datos + archivos</a:t>
            </a:r>
          </a:p>
        </p:txBody>
      </p:sp>
      <p:sp>
        <p:nvSpPr>
          <p:cNvPr id="45" name="Left Arrow 44"/>
          <p:cNvSpPr/>
          <p:nvPr/>
        </p:nvSpPr>
        <p:spPr>
          <a:xfrm>
            <a:off x="7543800" y="2770632"/>
            <a:ext cx="1051560" cy="164592"/>
          </a:xfrm>
          <a:prstGeom prst="leftArrow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70648" y="2990088"/>
            <a:ext cx="1280160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19" b="0">
                <a:solidFill>
                  <a:srgbClr val="51706D"/>
                </a:solidFill>
                <a:latin typeface="Aptos"/>
              </a:rPr>
              <a:t>tiempo real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6053328" y="4800600"/>
            <a:ext cx="1764792" cy="91440"/>
          </a:xfrm>
          <a:prstGeom prst="line">
            <a:avLst/>
          </a:prstGeom>
          <a:ln w="22860">
            <a:solidFill>
              <a:srgbClr val="376B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080760" y="4590288"/>
            <a:ext cx="1783080" cy="18288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19" b="0">
                <a:solidFill>
                  <a:srgbClr val="51706D"/>
                </a:solidFill>
                <a:latin typeface="Aptos"/>
              </a:rPr>
              <a:t>texto dudoso / correcci?n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6053328" y="5120640"/>
            <a:ext cx="1792224" cy="18288"/>
          </a:xfrm>
          <a:prstGeom prst="line">
            <a:avLst/>
          </a:prstGeom>
          <a:ln w="22860">
            <a:solidFill>
              <a:srgbClr val="376B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263640" y="5193792"/>
            <a:ext cx="1508760" cy="18288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19" b="0">
                <a:solidFill>
                  <a:srgbClr val="51706D"/>
                </a:solidFill>
                <a:latin typeface="Aptos"/>
              </a:rPr>
              <a:t>texto normalizado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080760" y="3611880"/>
            <a:ext cx="3657600" cy="2194560"/>
          </a:xfrm>
          <a:prstGeom prst="line">
            <a:avLst/>
          </a:prstGeom>
          <a:ln w="17780">
            <a:solidFill>
              <a:srgbClr val="B7D7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900416" y="4617720"/>
            <a:ext cx="457200" cy="16459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800" b="0">
                <a:solidFill>
                  <a:srgbClr val="51706D"/>
                </a:solidFill>
                <a:latin typeface="Aptos"/>
              </a:rPr>
              <a:t>citas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81328" y="6144768"/>
            <a:ext cx="9052560" cy="292608"/>
          </a:xfrm>
          <a:prstGeom prst="roundRect">
            <a:avLst/>
          </a:prstGeom>
          <a:solidFill>
            <a:srgbClr val="ECF8F4"/>
          </a:solidFill>
          <a:ln w="13335">
            <a:solidFill>
              <a:srgbClr val="EC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40" b="1">
                <a:solidFill>
                  <a:srgbClr val="123C3A"/>
                </a:solidFill>
                <a:latin typeface="Aptos"/>
              </a:rPr>
              <a:t>Cliente y odont?logo interact?an con una SPA cliente-pesada; Firebase persiste y sincroniza; NLP apoya el reconocimiento de voz.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03720" y="5513832"/>
            <a:ext cx="2423160" cy="566928"/>
          </a:xfrm>
          <a:prstGeom prst="roundRect">
            <a:avLst/>
          </a:prstGeom>
          <a:solidFill>
            <a:srgbClr val="F0EBFF"/>
          </a:solidFill>
          <a:ln w="13335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919" b="1">
                <a:solidFill>
                  <a:srgbClr val="123C3A"/>
                </a:solidFill>
                <a:latin typeface="Aptos"/>
              </a:rPr>
              <a:t>Agente IA
Plan de tratamiento
PROPUESTO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95159" y="5605272"/>
            <a:ext cx="310896" cy="201168"/>
          </a:xfrm>
          <a:prstGeom prst="roundRect">
            <a:avLst/>
          </a:prstGeom>
          <a:solidFill>
            <a:srgbClr val="6E56CF"/>
          </a:solidFill>
          <a:ln w="13335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IA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60720" y="4526280"/>
            <a:ext cx="1143000" cy="1216152"/>
          </a:xfrm>
          <a:prstGeom prst="line">
            <a:avLst/>
          </a:prstGeom>
          <a:ln w="19050">
            <a:solidFill>
              <a:srgbClr val="6E5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001000" y="5413248"/>
            <a:ext cx="612648" cy="100584"/>
          </a:xfrm>
          <a:prstGeom prst="line">
            <a:avLst/>
          </a:prstGeom>
          <a:ln w="16510">
            <a:solidFill>
              <a:srgbClr val="6E5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7406640" y="3090672"/>
            <a:ext cx="777239" cy="2423160"/>
          </a:xfrm>
          <a:prstGeom prst="line">
            <a:avLst/>
          </a:prstGeom>
          <a:ln w="15240">
            <a:solidFill>
              <a:srgbClr val="6E5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016752" y="4983480"/>
            <a:ext cx="1143000" cy="18288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780" b="0">
                <a:solidFill>
                  <a:srgbClr val="51706D"/>
                </a:solidFill>
                <a:latin typeface="Aptos"/>
              </a:rPr>
              <a:t>sugerencia de plan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371600" y="6099048"/>
            <a:ext cx="9464040" cy="393192"/>
          </a:xfrm>
          <a:prstGeom prst="roundRect">
            <a:avLst/>
          </a:prstGeom>
          <a:solidFill>
            <a:srgbClr val="F6FFFC"/>
          </a:solidFill>
          <a:ln w="13335">
            <a:solidFill>
              <a:srgbClr val="F6F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00" b="1">
                <a:solidFill>
                  <a:srgbClr val="F6FFFC"/>
                </a:solidFill>
                <a:latin typeface="Aptos"/>
              </a:rPr>
              <a:t/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444752" y="6144768"/>
            <a:ext cx="9281160" cy="292608"/>
          </a:xfrm>
          <a:prstGeom prst="roundRect">
            <a:avLst/>
          </a:prstGeom>
          <a:solidFill>
            <a:srgbClr val="ECF8F4"/>
          </a:solidFill>
          <a:ln w="13335">
            <a:solidFill>
              <a:srgbClr val="EC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00" b="1">
                <a:solidFill>
                  <a:srgbClr val="123C3A"/>
                </a:solidFill>
                <a:latin typeface="Aptos"/>
              </a:rPr>
              <a:t>Pr?xima evoluci?n: Agente IA propone plan de tratamiento usando hallazgos, historia cl?nica y precios; el odont?logo revisa y aprueba.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046720" cy="5029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2900" b="1">
                <a:solidFill>
                  <a:srgbClr val="123C3A"/>
                </a:solidFill>
                <a:latin typeface="Aptos Display"/>
              </a:rPr>
              <a:t>Flujo de voz y procesamiento de lenguaje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9536"/>
            <a:ext cx="9326880" cy="29260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20" b="0">
                <a:solidFill>
                  <a:srgbClr val="51706D"/>
                </a:solidFill>
                <a:latin typeface="Aptos"/>
              </a:rPr>
              <a:t>C?mo un dictado cl?nico se convierte en hallazgo del odontograma.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207008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3840480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840" b="0">
                <a:solidFill>
                  <a:srgbClr val="51706D"/>
                </a:solidFill>
                <a:latin typeface="Aptos"/>
              </a:rPr>
              <a:t>Quiru | Arquitectura ejecutiva gr?fica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/>
            <a:r>
              <a:rPr sz="919" b="1">
                <a:solidFill>
                  <a:srgbClr val="15957F"/>
                </a:solidFill>
                <a:latin typeface="Aptos"/>
              </a:rPr>
              <a:t>03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92608"/>
            <a:ext cx="1508760" cy="14786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1828800"/>
            <a:ext cx="347472" cy="347472"/>
          </a:xfrm>
          <a:prstGeom prst="roundRect">
            <a:avLst/>
          </a:prstGeom>
          <a:solidFill>
            <a:srgbClr val="22C7A6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67712"/>
            <a:ext cx="1444752" cy="1143000"/>
          </a:xfrm>
          <a:prstGeom prst="roundRect">
            <a:avLst/>
          </a:prstGeom>
          <a:solidFill>
            <a:srgbClr val="DCFBF3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" y="2450592"/>
            <a:ext cx="50292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395728"/>
            <a:ext cx="484632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Odont?logo dicta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798064"/>
            <a:ext cx="1024128" cy="521207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Ejemplo: pieza 16 caries oclusal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920240" y="2743200"/>
            <a:ext cx="429768" cy="146304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31136" y="1828800"/>
            <a:ext cx="347472" cy="347472"/>
          </a:xfrm>
          <a:prstGeom prst="roundRect">
            <a:avLst/>
          </a:prstGeom>
          <a:solidFill>
            <a:srgbClr val="F6BF26"/>
          </a:solidFill>
          <a:ln w="13335">
            <a:solidFill>
              <a:srgbClr val="F6B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67128" y="2267712"/>
            <a:ext cx="1444752" cy="1143000"/>
          </a:xfrm>
          <a:prstGeom prst="roundRect">
            <a:avLst/>
          </a:prstGeom>
          <a:solidFill>
            <a:srgbClr val="FFF6DA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68296" y="2450592"/>
            <a:ext cx="502920" cy="64008"/>
          </a:xfrm>
          <a:prstGeom prst="roundRect">
            <a:avLst/>
          </a:prstGeom>
          <a:solidFill>
            <a:srgbClr val="F6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0088" y="2395728"/>
            <a:ext cx="484632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Micr?fono navegador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6584" y="2798064"/>
            <a:ext cx="1024128" cy="521207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Permiso de audio + Web Speech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584448" y="2743200"/>
            <a:ext cx="429768" cy="146304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895344" y="1828800"/>
            <a:ext cx="347472" cy="347472"/>
          </a:xfrm>
          <a:prstGeom prst="roundRect">
            <a:avLst/>
          </a:prstGeom>
          <a:solidFill>
            <a:srgbClr val="F6BF26"/>
          </a:solidFill>
          <a:ln w="13335">
            <a:solidFill>
              <a:srgbClr val="F6B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31336" y="2267712"/>
            <a:ext cx="1444752" cy="1143000"/>
          </a:xfrm>
          <a:prstGeom prst="roundRect">
            <a:avLst/>
          </a:prstGeom>
          <a:solidFill>
            <a:srgbClr val="FFF6DA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032504" y="2450592"/>
            <a:ext cx="502920" cy="64008"/>
          </a:xfrm>
          <a:prstGeom prst="roundRect">
            <a:avLst/>
          </a:prstGeom>
          <a:solidFill>
            <a:srgbClr val="F6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54296" y="2395728"/>
            <a:ext cx="484632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Annyang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50792" y="2798064"/>
            <a:ext cx="1024128" cy="521207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Convierte voz a texto y dispara comandos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248656" y="2743200"/>
            <a:ext cx="429768" cy="146304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559552" y="1828800"/>
            <a:ext cx="347472" cy="347472"/>
          </a:xfrm>
          <a:prstGeom prst="roundRect">
            <a:avLst/>
          </a:prstGeom>
          <a:solidFill>
            <a:srgbClr val="22C7A6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95544" y="2267712"/>
            <a:ext cx="1444752" cy="1143000"/>
          </a:xfrm>
          <a:prstGeom prst="roundRect">
            <a:avLst/>
          </a:prstGeom>
          <a:solidFill>
            <a:srgbClr val="DCFBF3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96712" y="2450592"/>
            <a:ext cx="50292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504" y="2395728"/>
            <a:ext cx="484632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Parser Quiru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2798064"/>
            <a:ext cx="1024128" cy="521207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comandosDeVoz.js interpreta pieza/hallazgo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912864" y="2743200"/>
            <a:ext cx="429768" cy="146304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223760" y="1828800"/>
            <a:ext cx="347472" cy="347472"/>
          </a:xfrm>
          <a:prstGeom prst="roundRect">
            <a:avLst/>
          </a:prstGeom>
          <a:solidFill>
            <a:srgbClr val="376BC7"/>
          </a:solidFill>
          <a:ln w="13335">
            <a:solidFill>
              <a:srgbClr val="376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59752" y="2267712"/>
            <a:ext cx="1444752" cy="1143000"/>
          </a:xfrm>
          <a:prstGeom prst="roundRect">
            <a:avLst/>
          </a:prstGeom>
          <a:solidFill>
            <a:srgbClr val="E2EE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60920" y="2450592"/>
            <a:ext cx="502920" cy="64008"/>
          </a:xfrm>
          <a:prstGeom prst="roundRect">
            <a:avLst/>
          </a:prstGeom>
          <a:solidFill>
            <a:srgbClr val="376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82712" y="2395728"/>
            <a:ext cx="484632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Google Cloud NLP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79208" y="2798064"/>
            <a:ext cx="1024128" cy="521207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corrige/normaliza texto no reconocido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8577072" y="2743200"/>
            <a:ext cx="429768" cy="146304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887968" y="1828800"/>
            <a:ext cx="347472" cy="347472"/>
          </a:xfrm>
          <a:prstGeom prst="roundRect">
            <a:avLst/>
          </a:prstGeom>
          <a:solidFill>
            <a:srgbClr val="22C7A6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23960" y="2267712"/>
            <a:ext cx="1444752" cy="1143000"/>
          </a:xfrm>
          <a:prstGeom prst="roundRect">
            <a:avLst/>
          </a:prstGeom>
          <a:solidFill>
            <a:srgbClr val="DCFBF3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025128" y="2450592"/>
            <a:ext cx="50292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46920" y="2395728"/>
            <a:ext cx="484632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Firestore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43416" y="2798064"/>
            <a:ext cx="1024128" cy="521207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guarda hallazgo en odontograma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0241280" y="2743200"/>
            <a:ext cx="429768" cy="146304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552176" y="1828800"/>
            <a:ext cx="347472" cy="347472"/>
          </a:xfrm>
          <a:prstGeom prst="roundRect">
            <a:avLst/>
          </a:prstGeom>
          <a:solidFill>
            <a:srgbClr val="FF8D6B"/>
          </a:solidFill>
          <a:ln w="13335">
            <a:solidFill>
              <a:srgbClr val="FF8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488168" y="2267712"/>
            <a:ext cx="1444752" cy="1143000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689336" y="2450592"/>
            <a:ext cx="502920" cy="64008"/>
          </a:xfrm>
          <a:prstGeom prst="roundRect">
            <a:avLst/>
          </a:prstGeom>
          <a:solidFill>
            <a:srgbClr val="FF8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311128" y="2395728"/>
            <a:ext cx="484632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UI + PDF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07624" y="2798064"/>
            <a:ext cx="1024128" cy="521207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odontograma, resumen, plan y reporte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" y="4800600"/>
            <a:ext cx="10287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115568" y="4983480"/>
            <a:ext cx="50292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37360" y="4928616"/>
            <a:ext cx="932688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Punto clave ejecutivo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" y="5330952"/>
            <a:ext cx="9866376" cy="338328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Annyang vive en el navegador: reduce fricci?n porque el odont?logo dicta durante la atenci?n.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Google Cloud NLP no reemplaza el flujo cl?nico; act?a como apoyo cuando el texto requiere correcci?n o normalizaci?n.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El resultado final se persiste en Firebase para disponibilidad en tiempo real y generaci?n documental.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488168" y="3703320"/>
            <a:ext cx="1170432" cy="713232"/>
          </a:xfrm>
          <a:prstGeom prst="roundRect">
            <a:avLst/>
          </a:prstGeom>
          <a:solidFill>
            <a:srgbClr val="F0EBFF"/>
          </a:solidFill>
          <a:ln w="13335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30" b="1">
                <a:solidFill>
                  <a:srgbClr val="123C3A"/>
                </a:solidFill>
                <a:latin typeface="Aptos"/>
              </a:rPr>
              <a:t>8
Agente IA propone
plan de tratamiento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0991088" y="3401568"/>
            <a:ext cx="0" cy="301752"/>
          </a:xfrm>
          <a:prstGeom prst="line">
            <a:avLst/>
          </a:prstGeom>
          <a:ln w="15240">
            <a:solidFill>
              <a:srgbClr val="6E5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868680" y="5806440"/>
            <a:ext cx="10469880" cy="457200"/>
          </a:xfrm>
          <a:prstGeom prst="roundRect">
            <a:avLst/>
          </a:prstGeom>
          <a:solidFill>
            <a:srgbClr val="F6FFFC"/>
          </a:solidFill>
          <a:ln w="13335">
            <a:solidFill>
              <a:srgbClr val="F6F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00" b="1">
                <a:solidFill>
                  <a:srgbClr val="F6FFFC"/>
                </a:solidFill>
                <a:latin typeface="Aptos"/>
              </a:rPr>
              <a:t/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32688" y="5870448"/>
            <a:ext cx="10287000" cy="292608"/>
          </a:xfrm>
          <a:prstGeom prst="roundRect">
            <a:avLst/>
          </a:prstGeom>
          <a:solidFill>
            <a:srgbClr val="F0EBFF"/>
          </a:solidFill>
          <a:ln w="13335">
            <a:solidFill>
              <a:srgbClr val="F0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00" b="1">
                <a:solidFill>
                  <a:srgbClr val="123C3A"/>
                </a:solidFill>
                <a:latin typeface="Aptos"/>
              </a:rPr>
              <a:t>Extensi?n propuesta: los hallazgos validados alimentan un Agente IA que sugiere tratamientos, fases y prioridades para aprobaci?n cl?nica.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046720" cy="5029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2900" b="1">
                <a:solidFill>
                  <a:srgbClr val="123C3A"/>
                </a:solidFill>
                <a:latin typeface="Aptos Display"/>
              </a:rPr>
              <a:t>Flujo cl?nico y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9536"/>
            <a:ext cx="9326880" cy="29260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20" b="0">
                <a:solidFill>
                  <a:srgbClr val="51706D"/>
                </a:solidFill>
                <a:latin typeface="Aptos"/>
              </a:rPr>
              <a:t>De la atenci?n al documento cl?nico.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207008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3840480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840" b="0">
                <a:solidFill>
                  <a:srgbClr val="51706D"/>
                </a:solidFill>
                <a:latin typeface="Aptos"/>
              </a:rPr>
              <a:t>Quiru | Arquitectura ejecutiva gr?fica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/>
            <a:r>
              <a:rPr sz="919" b="1">
                <a:solidFill>
                  <a:srgbClr val="15957F"/>
                </a:solidFill>
                <a:latin typeface="Aptos"/>
              </a:rPr>
              <a:t>04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92608"/>
            <a:ext cx="1508760" cy="14786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1572768"/>
            <a:ext cx="1645920" cy="411480"/>
          </a:xfrm>
          <a:prstGeom prst="roundRect">
            <a:avLst/>
          </a:prstGeom>
          <a:solidFill>
            <a:srgbClr val="FF8D6B"/>
          </a:solidFill>
          <a:ln w="13335">
            <a:solidFill>
              <a:srgbClr val="FF8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Cliente / Paciente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80360"/>
            <a:ext cx="1645920" cy="411480"/>
          </a:xfrm>
          <a:prstGeom prst="roundRect">
            <a:avLst/>
          </a:prstGeom>
          <a:solidFill>
            <a:srgbClr val="22C7A6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Odont?logo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187952"/>
            <a:ext cx="1645920" cy="411480"/>
          </a:xfrm>
          <a:prstGeom prst="roundRect">
            <a:avLst/>
          </a:prstGeom>
          <a:solidFill>
            <a:srgbClr val="15957F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quiru_app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504688"/>
            <a:ext cx="1645920" cy="411480"/>
          </a:xfrm>
          <a:prstGeom prst="roundRect">
            <a:avLst/>
          </a:prstGeom>
          <a:solidFill>
            <a:srgbClr val="376BC7"/>
          </a:solidFill>
          <a:ln w="13335">
            <a:solidFill>
              <a:srgbClr val="376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Firebase / Cloud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240280"/>
            <a:ext cx="10607040" cy="0"/>
          </a:xfrm>
          <a:prstGeom prst="line">
            <a:avLst/>
          </a:prstGeom>
          <a:ln w="11430">
            <a:solidFill>
              <a:srgbClr val="B7D7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" y="3547872"/>
            <a:ext cx="10607040" cy="0"/>
          </a:xfrm>
          <a:prstGeom prst="line">
            <a:avLst/>
          </a:prstGeom>
          <a:ln w="11430">
            <a:solidFill>
              <a:srgbClr val="B7D7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5800" y="4864608"/>
            <a:ext cx="10607040" cy="0"/>
          </a:xfrm>
          <a:prstGeom prst="line">
            <a:avLst/>
          </a:prstGeom>
          <a:ln w="11430">
            <a:solidFill>
              <a:srgbClr val="B7D7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" y="6172200"/>
            <a:ext cx="10607040" cy="0"/>
          </a:xfrm>
          <a:prstGeom prst="line">
            <a:avLst/>
          </a:prstGeom>
          <a:ln w="11430">
            <a:solidFill>
              <a:srgbClr val="B7D7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697480" y="1536192"/>
            <a:ext cx="1170432" cy="566928"/>
          </a:xfrm>
          <a:prstGeom prst="roundRect">
            <a:avLst/>
          </a:prstGeom>
          <a:solidFill>
            <a:srgbClr val="ECF8F4"/>
          </a:solidFill>
          <a:ln w="13335">
            <a:solidFill>
              <a:srgbClr val="FF8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9" b="1">
                <a:solidFill>
                  <a:srgbClr val="123C3A"/>
                </a:solidFill>
                <a:latin typeface="Aptos"/>
              </a:rPr>
              <a:t>Solicita cita
o llega a consulta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2834640"/>
            <a:ext cx="1170432" cy="566928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9" b="1">
                <a:solidFill>
                  <a:srgbClr val="123C3A"/>
                </a:solidFill>
                <a:latin typeface="Aptos"/>
              </a:rPr>
              <a:t>Registra / busca
paciente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4133087"/>
            <a:ext cx="1170432" cy="566928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9" b="1">
                <a:solidFill>
                  <a:srgbClr val="123C3A"/>
                </a:solidFill>
                <a:latin typeface="Aptos"/>
              </a:rPr>
              <a:t>Admisi?n
y antecedentes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834640"/>
            <a:ext cx="1170432" cy="566928"/>
          </a:xfrm>
          <a:prstGeom prst="roundRect">
            <a:avLst/>
          </a:prstGeom>
          <a:solidFill>
            <a:srgbClr val="FFF6DA"/>
          </a:solidFill>
          <a:ln w="13335">
            <a:solidFill>
              <a:srgbClr val="F6B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9" b="1">
                <a:solidFill>
                  <a:srgbClr val="123C3A"/>
                </a:solidFill>
                <a:latin typeface="Aptos"/>
              </a:rPr>
              <a:t>Dictado de voz
+ odontograma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133087"/>
            <a:ext cx="1170432" cy="566928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9" b="1">
                <a:solidFill>
                  <a:srgbClr val="123C3A"/>
                </a:solidFill>
                <a:latin typeface="Aptos"/>
              </a:rPr>
              <a:t>Plan / cotizaci?n
y consentimientos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4133087"/>
            <a:ext cx="1170432" cy="566928"/>
          </a:xfrm>
          <a:prstGeom prst="roundRect">
            <a:avLst/>
          </a:prstGeom>
          <a:solidFill>
            <a:srgbClr val="ECF8F4"/>
          </a:solidFill>
          <a:ln w="13335">
            <a:solidFill>
              <a:srgbClr val="FF8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9" b="1">
                <a:solidFill>
                  <a:srgbClr val="123C3A"/>
                </a:solidFill>
                <a:latin typeface="Aptos"/>
              </a:rPr>
              <a:t>PDF historia cl?nica
reportes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5449824"/>
            <a:ext cx="822960" cy="384048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80" b="1">
                <a:solidFill>
                  <a:srgbClr val="123C3A"/>
                </a:solidFill>
                <a:latin typeface="Aptos"/>
              </a:rPr>
              <a:t>Auth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69080" y="5349240"/>
            <a:ext cx="1920240" cy="585216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50" b="1">
                <a:solidFill>
                  <a:srgbClr val="123C3A"/>
                </a:solidFill>
                <a:latin typeface="Aptos"/>
              </a:rPr>
              <a:t>Firestore
paciente/odontograma/citas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5349240"/>
            <a:ext cx="1371600" cy="585216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50" b="1">
                <a:solidFill>
                  <a:srgbClr val="123C3A"/>
                </a:solidFill>
                <a:latin typeface="Aptos"/>
              </a:rPr>
              <a:t>Storage
archivos cl?nicos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5349240"/>
            <a:ext cx="1417320" cy="585216"/>
          </a:xfrm>
          <a:prstGeom prst="roundRect">
            <a:avLst/>
          </a:prstGeom>
          <a:solidFill>
            <a:srgbClr val="E2EEFF"/>
          </a:solidFill>
          <a:ln w="13335">
            <a:solidFill>
              <a:srgbClr val="376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50" b="1">
                <a:solidFill>
                  <a:srgbClr val="123C3A"/>
                </a:solidFill>
                <a:latin typeface="Aptos"/>
              </a:rPr>
              <a:t>Cloud NLP
correcci?n texto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5449824"/>
            <a:ext cx="868680" cy="384048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80" b="1">
                <a:solidFill>
                  <a:srgbClr val="123C3A"/>
                </a:solidFill>
                <a:latin typeface="Aptos"/>
              </a:rPr>
              <a:t>Hosting
SPA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867912" y="4407408"/>
            <a:ext cx="347472" cy="118872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5056632" y="4407408"/>
            <a:ext cx="347472" cy="118872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6199632" y="4407408"/>
            <a:ext cx="347472" cy="118872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7479792" y="4407408"/>
            <a:ext cx="347472" cy="118872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8805672" y="4407408"/>
            <a:ext cx="347472" cy="118872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4407408" y="3401568"/>
            <a:ext cx="576072" cy="768095"/>
          </a:xfrm>
          <a:prstGeom prst="line">
            <a:avLst/>
          </a:prstGeom>
          <a:ln w="15240">
            <a:solidFill>
              <a:srgbClr val="1595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903720" y="3401568"/>
            <a:ext cx="731520" cy="768095"/>
          </a:xfrm>
          <a:prstGeom prst="line">
            <a:avLst/>
          </a:prstGeom>
          <a:ln w="15240">
            <a:solidFill>
              <a:srgbClr val="1595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663440" y="4709160"/>
            <a:ext cx="0" cy="640080"/>
          </a:xfrm>
          <a:prstGeom prst="line">
            <a:avLst/>
          </a:prstGeom>
          <a:ln w="15240">
            <a:solidFill>
              <a:srgbClr val="1595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903720" y="4709160"/>
            <a:ext cx="0" cy="640080"/>
          </a:xfrm>
          <a:prstGeom prst="line">
            <a:avLst/>
          </a:prstGeom>
          <a:ln w="15240">
            <a:solidFill>
              <a:srgbClr val="1595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823960" y="4709160"/>
            <a:ext cx="0" cy="640080"/>
          </a:xfrm>
          <a:prstGeom prst="line">
            <a:avLst/>
          </a:prstGeom>
          <a:ln w="15240">
            <a:solidFill>
              <a:srgbClr val="1595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784080" y="4709160"/>
            <a:ext cx="0" cy="640080"/>
          </a:xfrm>
          <a:prstGeom prst="line">
            <a:avLst/>
          </a:prstGeom>
          <a:ln w="15240">
            <a:solidFill>
              <a:srgbClr val="1595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2651760" y="6236208"/>
            <a:ext cx="8138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52928" y="6419088"/>
            <a:ext cx="502920" cy="64008"/>
          </a:xfrm>
          <a:prstGeom prst="roundRect">
            <a:avLst/>
          </a:prstGeom>
          <a:solidFill>
            <a:srgbClr val="FF8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0" y="6364224"/>
            <a:ext cx="717804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Lectura ejecutiva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71215" y="6766560"/>
            <a:ext cx="7717536" cy="-18288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Quiru conecta experiencia cl?nica y persistencia cloud: el odont?logo trabaja en una sola interfaz, mientras Firebase consolida identidad, datos, archivos y despliegue.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69480" y="2944368"/>
            <a:ext cx="1170432" cy="566928"/>
          </a:xfrm>
          <a:prstGeom prst="roundRect">
            <a:avLst/>
          </a:prstGeom>
          <a:solidFill>
            <a:srgbClr val="F0EBFF"/>
          </a:solidFill>
          <a:ln w="13335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00" b="1">
                <a:solidFill>
                  <a:srgbClr val="123C3A"/>
                </a:solidFill>
                <a:latin typeface="Aptos"/>
              </a:rPr>
              <a:t>Agente IA
sugiere plan
(propuesto)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479792" y="3401568"/>
            <a:ext cx="338328" cy="731519"/>
          </a:xfrm>
          <a:prstGeom prst="line">
            <a:avLst/>
          </a:prstGeom>
          <a:ln w="16510">
            <a:solidFill>
              <a:srgbClr val="6E5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903720" y="3218688"/>
            <a:ext cx="365760" cy="182880"/>
          </a:xfrm>
          <a:prstGeom prst="line">
            <a:avLst/>
          </a:prstGeom>
          <a:ln w="16510">
            <a:solidFill>
              <a:srgbClr val="6E5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858000" y="3593592"/>
            <a:ext cx="2057400" cy="18288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760" b="0">
                <a:solidFill>
                  <a:srgbClr val="51706D"/>
                </a:solidFill>
                <a:latin typeface="Aptos"/>
              </a:rPr>
              <a:t>IA asiste, odont?logo decide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046720" cy="5029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2900" b="1">
                <a:solidFill>
                  <a:srgbClr val="123C3A"/>
                </a:solidFill>
                <a:latin typeface="Aptos Display"/>
              </a:rPr>
              <a:t>Responsabilidades por componente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9536"/>
            <a:ext cx="9326880" cy="29260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20" b="0">
                <a:solidFill>
                  <a:srgbClr val="51706D"/>
                </a:solidFill>
                <a:latin typeface="Aptos"/>
              </a:rPr>
              <a:t>Qu? hace cada pieza dentro de la arquitectura.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207008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3840480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840" b="0">
                <a:solidFill>
                  <a:srgbClr val="51706D"/>
                </a:solidFill>
                <a:latin typeface="Aptos"/>
              </a:rPr>
              <a:t>Quiru | Arquitectura ejecutiva gr?fica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/>
            <a:r>
              <a:rPr sz="919" b="1">
                <a:solidFill>
                  <a:srgbClr val="15957F"/>
                </a:solidFill>
                <a:latin typeface="Aptos"/>
              </a:rPr>
              <a:t>05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92608"/>
            <a:ext cx="1508760" cy="14786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600200"/>
            <a:ext cx="2971800" cy="1554480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783080"/>
            <a:ext cx="502920" cy="64008"/>
          </a:xfrm>
          <a:prstGeom prst="roundRect">
            <a:avLst/>
          </a:prstGeom>
          <a:solidFill>
            <a:srgbClr val="FF8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728216"/>
            <a:ext cx="201168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Cliente / Paciente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130552"/>
            <a:ext cx="2551176" cy="932688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Entrega datos personales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Agenda o confirma atenci?n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Firma/adjunta documentos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2971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0288" y="1783080"/>
            <a:ext cx="50292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1728216"/>
            <a:ext cx="201168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Odont?logo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130552"/>
            <a:ext cx="2551176" cy="932688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Gestiona pacientes y citas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Dicta hallazgos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Genera plan, cotizaci?n y PDF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00200"/>
            <a:ext cx="2971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47888" y="1783080"/>
            <a:ext cx="502920" cy="64008"/>
          </a:xfrm>
          <a:prstGeom prst="roundRect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1728216"/>
            <a:ext cx="201168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quiru_app 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30552"/>
            <a:ext cx="2551176" cy="932688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Interfaz Vue SPA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Orquesta flujos cl?nicos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Ejecuta l?gica de presentaci?n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86200"/>
            <a:ext cx="2971800" cy="1554480"/>
          </a:xfrm>
          <a:prstGeom prst="roundRect">
            <a:avLst/>
          </a:prstGeom>
          <a:solidFill>
            <a:srgbClr val="FFF6DA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2688" y="4069080"/>
            <a:ext cx="502920" cy="64008"/>
          </a:xfrm>
          <a:prstGeom prst="roundRect">
            <a:avLst/>
          </a:prstGeom>
          <a:solidFill>
            <a:srgbClr val="F6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4014215"/>
            <a:ext cx="201168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Annyang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416552"/>
            <a:ext cx="2551176" cy="932688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Reconocimiento de voz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Eventos de comandos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Corre en navegador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886200"/>
            <a:ext cx="2971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90288" y="4069080"/>
            <a:ext cx="50292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4014215"/>
            <a:ext cx="201168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Firebase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4416552"/>
            <a:ext cx="2551176" cy="932688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Auth, Firestore, Storage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Hosting de la SPA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Sincronizaci?n en tiempo real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886200"/>
            <a:ext cx="2971800" cy="1554480"/>
          </a:xfrm>
          <a:prstGeom prst="roundRect">
            <a:avLst/>
          </a:prstGeom>
          <a:solidFill>
            <a:srgbClr val="E2EE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47888" y="4069080"/>
            <a:ext cx="502920" cy="64008"/>
          </a:xfrm>
          <a:prstGeom prst="roundRect">
            <a:avLst/>
          </a:prstGeom>
          <a:solidFill>
            <a:srgbClr val="376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4014215"/>
            <a:ext cx="201168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Google Cloud NLP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6" y="4416552"/>
            <a:ext cx="2551176" cy="932688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Correcci?n de texto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Normalizaci?n sem?ntica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Apoyo ML al dictado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90288" y="3255264"/>
            <a:ext cx="2743200" cy="438912"/>
          </a:xfrm>
          <a:prstGeom prst="roundRect">
            <a:avLst/>
          </a:prstGeom>
          <a:solidFill>
            <a:srgbClr val="15957F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Orquestaci?n
de experiencia cl?nica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96512" y="3127248"/>
            <a:ext cx="3730752" cy="667512"/>
          </a:xfrm>
          <a:prstGeom prst="roundRect">
            <a:avLst/>
          </a:prstGeom>
          <a:solidFill>
            <a:srgbClr val="F6FFFC"/>
          </a:solidFill>
          <a:ln w="13335">
            <a:solidFill>
              <a:srgbClr val="F6F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00" b="1">
                <a:solidFill>
                  <a:srgbClr val="F6FFFC"/>
                </a:solidFill>
                <a:latin typeface="Aptos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24528" y="3182112"/>
            <a:ext cx="3456432" cy="347472"/>
          </a:xfrm>
          <a:prstGeom prst="roundRect">
            <a:avLst/>
          </a:prstGeom>
          <a:solidFill>
            <a:srgbClr val="6E56CF"/>
          </a:solidFill>
          <a:ln w="13335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Nuevo componente propuesto: Agente IA de plan de tratamiento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3566160"/>
            <a:ext cx="3273552" cy="18288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740" b="0">
                <a:solidFill>
                  <a:srgbClr val="51706D"/>
                </a:solidFill>
                <a:latin typeface="Aptos"/>
              </a:rPr>
              <a:t>Usa hallazgos, admisi?n, CIE10, precios y tratamientos previos para generar una propuesta revisable.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046720" cy="5029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2900" b="1">
                <a:solidFill>
                  <a:srgbClr val="123C3A"/>
                </a:solidFill>
                <a:latin typeface="Aptos Display"/>
              </a:rPr>
              <a:t>Per?metro de seguridad y gobierno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9536"/>
            <a:ext cx="9326880" cy="29260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20" b="0">
                <a:solidFill>
                  <a:srgbClr val="51706D"/>
                </a:solidFill>
                <a:latin typeface="Aptos"/>
              </a:rPr>
              <a:t>Controles recomendados para una arquitectura cl?nica en nube.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207008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3840480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840" b="0">
                <a:solidFill>
                  <a:srgbClr val="51706D"/>
                </a:solidFill>
                <a:latin typeface="Aptos"/>
              </a:rPr>
              <a:t>Quiru | Arquitectura ejecutiva gr?fica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/>
            <a:r>
              <a:rPr sz="919" b="1">
                <a:solidFill>
                  <a:srgbClr val="15957F"/>
                </a:solidFill>
                <a:latin typeface="Aptos"/>
              </a:rPr>
              <a:t>06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92608"/>
            <a:ext cx="1508760" cy="14786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06240" y="2331720"/>
            <a:ext cx="3703320" cy="1051560"/>
          </a:xfrm>
          <a:prstGeom prst="roundRect">
            <a:avLst/>
          </a:prstGeom>
          <a:solidFill>
            <a:srgbClr val="15957F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Datos cl?nicos Quiru
Pacientes, odontogramas, citas, archivos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554480"/>
            <a:ext cx="3063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15568" y="1737360"/>
            <a:ext cx="50292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682495"/>
            <a:ext cx="210312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Identidad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2084831"/>
            <a:ext cx="2642616" cy="338328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Firebase Auth + roles de usuario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77639" y="2029967"/>
            <a:ext cx="2075689" cy="822961"/>
          </a:xfrm>
          <a:prstGeom prst="line">
            <a:avLst/>
          </a:prstGeom>
          <a:ln w="15875">
            <a:solidFill>
              <a:srgbClr val="22C7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83879" y="1554480"/>
            <a:ext cx="3063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85048" y="1737360"/>
            <a:ext cx="50292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682495"/>
            <a:ext cx="210312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Reglas de acceso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2084831"/>
            <a:ext cx="2642616" cy="338328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Firestore/Storage Rules por odont?logo y rol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053328" y="2029967"/>
            <a:ext cx="2130551" cy="822961"/>
          </a:xfrm>
          <a:prstGeom prst="line">
            <a:avLst/>
          </a:prstGeom>
          <a:ln w="15875">
            <a:solidFill>
              <a:srgbClr val="22C7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4400" y="4251960"/>
            <a:ext cx="3063240" cy="960120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15568" y="4434840"/>
            <a:ext cx="502920" cy="64008"/>
          </a:xfrm>
          <a:prstGeom prst="roundRect">
            <a:avLst/>
          </a:prstGeom>
          <a:solidFill>
            <a:srgbClr val="FF8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37360" y="4379976"/>
            <a:ext cx="210312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Privacidad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4782312"/>
            <a:ext cx="2642616" cy="338328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Consentimientos, retenci?n y minimizaci?n de datos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977639" y="2852928"/>
            <a:ext cx="2075689" cy="1874520"/>
          </a:xfrm>
          <a:prstGeom prst="line">
            <a:avLst/>
          </a:prstGeom>
          <a:ln w="15875">
            <a:solidFill>
              <a:srgbClr val="FF8D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83879" y="4251960"/>
            <a:ext cx="3063240" cy="960120"/>
          </a:xfrm>
          <a:prstGeom prst="roundRect">
            <a:avLst/>
          </a:prstGeom>
          <a:solidFill>
            <a:srgbClr val="E2EE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85048" y="4434840"/>
            <a:ext cx="502920" cy="64008"/>
          </a:xfrm>
          <a:prstGeom prst="roundRect">
            <a:avLst/>
          </a:prstGeom>
          <a:solidFill>
            <a:srgbClr val="376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4379976"/>
            <a:ext cx="210312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Operaci?n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4782312"/>
            <a:ext cx="2642616" cy="338328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Logs, monitoreo de errores y backups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6053328" y="2852928"/>
            <a:ext cx="2130551" cy="1874520"/>
          </a:xfrm>
          <a:prstGeom prst="line">
            <a:avLst/>
          </a:prstGeom>
          <a:ln w="15875">
            <a:solidFill>
              <a:srgbClr val="376B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43400" y="5074920"/>
            <a:ext cx="3063240" cy="960120"/>
          </a:xfrm>
          <a:prstGeom prst="roundRect">
            <a:avLst/>
          </a:prstGeom>
          <a:solidFill>
            <a:srgbClr val="FFF6DA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44568" y="5257800"/>
            <a:ext cx="502920" cy="64008"/>
          </a:xfrm>
          <a:prstGeom prst="roundRect">
            <a:avLst/>
          </a:prstGeom>
          <a:solidFill>
            <a:srgbClr val="F6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6360" y="5202936"/>
            <a:ext cx="210312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Configuraci?n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5605272"/>
            <a:ext cx="2642616" cy="338328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Variables de entorno para claves e IDs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4343400" y="2852928"/>
            <a:ext cx="1709928" cy="2697480"/>
          </a:xfrm>
          <a:prstGeom prst="line">
            <a:avLst/>
          </a:prstGeom>
          <a:ln w="15875">
            <a:solidFill>
              <a:srgbClr val="F6BF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057400" y="6309360"/>
            <a:ext cx="8046720" cy="292608"/>
          </a:xfrm>
          <a:prstGeom prst="roundRect">
            <a:avLst/>
          </a:prstGeom>
          <a:solidFill>
            <a:srgbClr val="ECF8F4"/>
          </a:solidFill>
          <a:ln w="13335">
            <a:solidFill>
              <a:srgbClr val="EC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9" b="1">
                <a:solidFill>
                  <a:srgbClr val="123C3A"/>
                </a:solidFill>
                <a:latin typeface="Aptos"/>
              </a:rPr>
              <a:t>Mensaje directivo: la automatizaci?n por voz debe crecer acompa?ada de seguridad, trazabilidad y reglas de acceso verificables.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046720" cy="5029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2900" b="1">
                <a:solidFill>
                  <a:srgbClr val="123C3A"/>
                </a:solidFill>
                <a:latin typeface="Aptos Display"/>
              </a:rPr>
              <a:t>Modelo operativo ejecutivo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9536"/>
            <a:ext cx="9326880" cy="29260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20" b="0">
                <a:solidFill>
                  <a:srgbClr val="51706D"/>
                </a:solidFill>
                <a:latin typeface="Aptos"/>
              </a:rPr>
              <a:t>C?mo explicar el valor de la arquitectura en una conversaci?n de negocio.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207008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3840480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840" b="0">
                <a:solidFill>
                  <a:srgbClr val="51706D"/>
                </a:solidFill>
                <a:latin typeface="Aptos"/>
              </a:rPr>
              <a:t>Quiru | Arquitectura ejecutiva gr?fica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/>
            <a:r>
              <a:rPr sz="919" b="1">
                <a:solidFill>
                  <a:srgbClr val="15957F"/>
                </a:solidFill>
                <a:latin typeface="Aptos"/>
              </a:rPr>
              <a:t>07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92608"/>
            <a:ext cx="1508760" cy="14786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691640"/>
            <a:ext cx="33375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874520"/>
            <a:ext cx="502920" cy="64008"/>
          </a:xfrm>
          <a:prstGeom prst="roundRect">
            <a:avLst/>
          </a:prstGeom>
          <a:solidFill>
            <a:srgbClr val="FF8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819656"/>
            <a:ext cx="2377439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Experiencia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221992"/>
            <a:ext cx="2916936" cy="1207007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El odont?logo reduce fricci?n: dicta hallazgos mientras atiende.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El paciente queda conectado a citas, admisi?n y documentos.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91640"/>
            <a:ext cx="33375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36007" y="1874520"/>
            <a:ext cx="50292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1819656"/>
            <a:ext cx="2377439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Plataforma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221992"/>
            <a:ext cx="2916936" cy="1207007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quiru_app concentra la interfaz y Firebase sostiene identidad, datos y archivos.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Google Cloud NLP ampl?a la tolerancia a errores del dictado.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91640"/>
            <a:ext cx="33375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39328" y="1874520"/>
            <a:ext cx="502920" cy="64008"/>
          </a:xfrm>
          <a:prstGeom prst="roundRect">
            <a:avLst/>
          </a:prstGeom>
          <a:solidFill>
            <a:srgbClr val="376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819656"/>
            <a:ext cx="2377439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Gobierno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221992"/>
            <a:ext cx="2916936" cy="1207007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La arquitectura debe cerrar con reglas, auditor?a, monitoreo y pruebas de flujos cr?ticos.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Esto protege calidad cl?nica y escalabilidad.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160520"/>
            <a:ext cx="1828800" cy="402336"/>
          </a:xfrm>
          <a:prstGeom prst="roundRect">
            <a:avLst/>
          </a:prstGeom>
          <a:solidFill>
            <a:srgbClr val="15957F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040" b="1">
                <a:solidFill>
                  <a:srgbClr val="FFFFFF"/>
                </a:solidFill>
                <a:latin typeface="Aptos"/>
              </a:rPr>
              <a:t>Decisiones sugeridas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736592"/>
            <a:ext cx="292608" cy="237744"/>
          </a:xfrm>
          <a:prstGeom prst="roundRect">
            <a:avLst/>
          </a:prstGeom>
          <a:solidFill>
            <a:srgbClr val="22C7A6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9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727448"/>
            <a:ext cx="7772400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019" b="0">
                <a:solidFill>
                  <a:srgbClr val="123C3A"/>
                </a:solidFill>
                <a:latin typeface="Aptos"/>
              </a:rPr>
              <a:t>Formalizar reglas Firebase y roles de acceso.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093207"/>
            <a:ext cx="292608" cy="237744"/>
          </a:xfrm>
          <a:prstGeom prst="roundRect">
            <a:avLst/>
          </a:prstGeom>
          <a:solidFill>
            <a:srgbClr val="22C7A6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9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5084064"/>
            <a:ext cx="7772400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019" b="0">
                <a:solidFill>
                  <a:srgbClr val="123C3A"/>
                </a:solidFill>
                <a:latin typeface="Aptos"/>
              </a:rPr>
              <a:t>Separar configuraci?n cloud por ambiente.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449824"/>
            <a:ext cx="292608" cy="237744"/>
          </a:xfrm>
          <a:prstGeom prst="roundRect">
            <a:avLst/>
          </a:prstGeom>
          <a:solidFill>
            <a:srgbClr val="22C7A6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9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5440680"/>
            <a:ext cx="7772400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019" b="0">
                <a:solidFill>
                  <a:srgbClr val="123C3A"/>
                </a:solidFill>
                <a:latin typeface="Aptos"/>
              </a:rPr>
              <a:t>Medir precisi?n de voz/NLP y errores de agenda/documentos.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806440"/>
            <a:ext cx="292608" cy="237744"/>
          </a:xfrm>
          <a:prstGeom prst="roundRect">
            <a:avLst/>
          </a:prstGeom>
          <a:solidFill>
            <a:srgbClr val="22C7A6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9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5797296"/>
            <a:ext cx="7772400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019" b="0">
                <a:solidFill>
                  <a:srgbClr val="123C3A"/>
                </a:solidFill>
                <a:latin typeface="Aptos"/>
              </a:rPr>
              <a:t>Agregar pruebas smoke de paciente, odontograma, citas y PDF.</a:t>
            </a:r>
          </a:p>
        </p:txBody>
      </p:sp>
      <p:sp>
        <p:nvSpPr>
          <p:cNvPr id="29" name="Oval 28"/>
          <p:cNvSpPr/>
          <p:nvPr/>
        </p:nvSpPr>
        <p:spPr>
          <a:xfrm>
            <a:off x="9299448" y="4187952"/>
            <a:ext cx="438912" cy="438912"/>
          </a:xfrm>
          <a:prstGeom prst="ellipse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25712" y="4645152"/>
            <a:ext cx="786384" cy="6217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5330952"/>
            <a:ext cx="1508760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1080" b="1">
                <a:solidFill>
                  <a:srgbClr val="123C3A"/>
                </a:solidFill>
                <a:latin typeface="Aptos"/>
              </a:rPr>
              <a:t>Odont?logo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586984"/>
            <a:ext cx="1691640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80" b="0">
                <a:solidFill>
                  <a:srgbClr val="51706D"/>
                </a:solidFill>
                <a:latin typeface="Aptos"/>
              </a:rPr>
              <a:t>voz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12680" y="4526280"/>
            <a:ext cx="1051560" cy="420624"/>
          </a:xfrm>
          <a:prstGeom prst="roundRect">
            <a:avLst/>
          </a:prstGeom>
          <a:solidFill>
            <a:srgbClr val="15957F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quiru_app</a:t>
            </a:r>
          </a:p>
        </p:txBody>
      </p:sp>
      <p:sp>
        <p:nvSpPr>
          <p:cNvPr id="34" name="Cloud 33"/>
          <p:cNvSpPr/>
          <p:nvPr/>
        </p:nvSpPr>
        <p:spPr>
          <a:xfrm>
            <a:off x="10771632" y="4370832"/>
            <a:ext cx="868680" cy="685800"/>
          </a:xfrm>
          <a:prstGeom prst="cloud">
            <a:avLst/>
          </a:prstGeom>
          <a:solidFill>
            <a:srgbClr val="DCFBF3"/>
          </a:solidFill>
          <a:ln w="15240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000232" y="4626864"/>
            <a:ext cx="411479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1240" b="1">
                <a:solidFill>
                  <a:srgbClr val="123C3A"/>
                </a:solidFill>
                <a:latin typeface="Aptos"/>
              </a:rPr>
              <a:t>Cloud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1672" y="4992624"/>
            <a:ext cx="228600" cy="-91439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t>Firebase + NLP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765792" y="4700016"/>
            <a:ext cx="320040" cy="109728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10991088" y="4709160"/>
            <a:ext cx="274320" cy="109728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14400" y="6089904"/>
            <a:ext cx="292608" cy="237744"/>
          </a:xfrm>
          <a:prstGeom prst="roundRect">
            <a:avLst/>
          </a:prstGeom>
          <a:solidFill>
            <a:srgbClr val="6E56CF"/>
          </a:solidFill>
          <a:ln w="13335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9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8448" y="6080760"/>
            <a:ext cx="8092440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000" b="0">
                <a:solidFill>
                  <a:srgbClr val="123C3A"/>
                </a:solidFill>
                <a:latin typeface="Aptos"/>
              </a:rPr>
              <a:t>Evaluar Agente IA de plan de tratamiento con piloto controlado y validaci?n cl?nica.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503920" cy="5029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2900" b="1">
                <a:solidFill>
                  <a:srgbClr val="123C3A"/>
                </a:solidFill>
                <a:latin typeface="Aptos Display"/>
              </a:rPr>
              <a:t>Funcionalidad propuesta: Agente IA de plan de tratamiento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9536"/>
            <a:ext cx="9326880" cy="29260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20" b="0">
                <a:solidFill>
                  <a:srgbClr val="51706D"/>
                </a:solidFill>
                <a:latin typeface="Aptos"/>
              </a:rPr>
              <a:t>Arquitectura conceptual para analizar antes de incorporarla a quiru_app.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207008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3840480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840" b="0">
                <a:solidFill>
                  <a:srgbClr val="51706D"/>
                </a:solidFill>
                <a:latin typeface="Aptos"/>
              </a:rPr>
              <a:t>Quiru | Arquitectura ejecutiva gr?fica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/>
            <a:r>
              <a:rPr sz="919" b="1">
                <a:solidFill>
                  <a:srgbClr val="15957F"/>
                </a:solidFill>
                <a:latin typeface="Aptos"/>
              </a:rPr>
              <a:t>08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92608"/>
            <a:ext cx="1508760" cy="14786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8" y="1627632"/>
            <a:ext cx="1920240" cy="384048"/>
          </a:xfrm>
          <a:prstGeom prst="roundRect">
            <a:avLst/>
          </a:prstGeom>
          <a:solidFill>
            <a:srgbClr val="15957F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Entradas cl?nicas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240280"/>
            <a:ext cx="1691640" cy="47548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0" b="1">
                <a:solidFill>
                  <a:srgbClr val="123C3A"/>
                </a:solidFill>
                <a:latin typeface="Aptos"/>
              </a:rPr>
              <a:t>Odontograma
y hallazgos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68880" y="2404872"/>
            <a:ext cx="502920" cy="109728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2971800"/>
            <a:ext cx="1691640" cy="47548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0" b="1">
                <a:solidFill>
                  <a:srgbClr val="123C3A"/>
                </a:solidFill>
                <a:latin typeface="Aptos"/>
              </a:rPr>
              <a:t>Admisi?n e
historia cl?nica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68880" y="3136392"/>
            <a:ext cx="502920" cy="109728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703320"/>
            <a:ext cx="1691640" cy="47548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0" b="1">
                <a:solidFill>
                  <a:srgbClr val="123C3A"/>
                </a:solidFill>
                <a:latin typeface="Aptos"/>
              </a:rPr>
              <a:t>CIE10 /
diccionarios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468880" y="3867911"/>
            <a:ext cx="502920" cy="109728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1691640" cy="47548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0" b="1">
                <a:solidFill>
                  <a:srgbClr val="123C3A"/>
                </a:solidFill>
                <a:latin typeface="Aptos"/>
              </a:rPr>
              <a:t>Lista de precios
y tratamientos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468880" y="4599431"/>
            <a:ext cx="502920" cy="109728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63240" y="2468880"/>
            <a:ext cx="2606040" cy="1143000"/>
          </a:xfrm>
          <a:prstGeom prst="roundRect">
            <a:avLst/>
          </a:prstGeom>
          <a:solidFill>
            <a:srgbClr val="6E56CF"/>
          </a:solidFill>
          <a:ln w="13335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Agente IA
Generador de plan de tratamiento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694176"/>
            <a:ext cx="2240280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50" b="1">
                <a:solidFill>
                  <a:srgbClr val="51706D"/>
                </a:solidFill>
                <a:latin typeface="Aptos"/>
              </a:rPr>
              <a:t>Funcionalidad nueva en an?lisis</a:t>
            </a:r>
          </a:p>
        </p:txBody>
      </p:sp>
      <p:sp>
        <p:nvSpPr>
          <p:cNvPr id="19" name="Cloud 18"/>
          <p:cNvSpPr/>
          <p:nvPr/>
        </p:nvSpPr>
        <p:spPr>
          <a:xfrm>
            <a:off x="3246120" y="4370832"/>
            <a:ext cx="2148840" cy="1143000"/>
          </a:xfrm>
          <a:prstGeom prst="cloud">
            <a:avLst/>
          </a:prstGeom>
          <a:solidFill>
            <a:srgbClr val="E2EEFF"/>
          </a:solidFill>
          <a:ln w="15240">
            <a:solidFill>
              <a:srgbClr val="376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4626864"/>
            <a:ext cx="1691640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1220" b="1">
                <a:solidFill>
                  <a:srgbClr val="123C3A"/>
                </a:solidFill>
                <a:latin typeface="Aptos"/>
              </a:rPr>
              <a:t>Google Cloud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992624"/>
            <a:ext cx="1508760" cy="36576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 algn="ctr">
              <a:lnSpc>
                <a:spcPct val="104000"/>
              </a:lnSpc>
              <a:defRPr sz="900">
                <a:solidFill>
                  <a:srgbClr val="51706D"/>
                </a:solidFill>
                <a:latin typeface="Aptos"/>
              </a:defRPr>
            </a:pPr>
            <a:r>
              <a:t>ML / NLP</a:t>
            </a:r>
          </a:p>
          <a:p>
            <a:pPr algn="ctr">
              <a:lnSpc>
                <a:spcPct val="104000"/>
              </a:lnSpc>
              <a:defRPr sz="900">
                <a:solidFill>
                  <a:srgbClr val="51706D"/>
                </a:solidFill>
                <a:latin typeface="Aptos"/>
              </a:defRPr>
            </a:pPr>
            <a:r>
              <a:t>normalizaci?n</a:t>
            </a:r>
          </a:p>
          <a:p>
            <a:pPr algn="ctr">
              <a:lnSpc>
                <a:spcPct val="104000"/>
              </a:lnSpc>
              <a:defRPr sz="900">
                <a:solidFill>
                  <a:srgbClr val="51706D"/>
                </a:solidFill>
                <a:latin typeface="Aptos"/>
              </a:defRPr>
            </a:pPr>
            <a:r>
              <a:t>razonamiento asistido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60520" y="3657600"/>
            <a:ext cx="0" cy="749808"/>
          </a:xfrm>
          <a:prstGeom prst="line">
            <a:avLst/>
          </a:prstGeom>
          <a:ln w="17780">
            <a:solidFill>
              <a:srgbClr val="376B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0" y="2487168"/>
            <a:ext cx="2148840" cy="960120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200" b="1">
                <a:solidFill>
                  <a:srgbClr val="123C3A"/>
                </a:solidFill>
                <a:latin typeface="Aptos"/>
              </a:rPr>
              <a:t>Odont?logo
valida, edita y aprueba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669280" y="2953512"/>
            <a:ext cx="713232" cy="164592"/>
          </a:xfrm>
          <a:prstGeom prst="rightArrow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96128" y="2724912"/>
            <a:ext cx="941832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19" b="0">
                <a:solidFill>
                  <a:srgbClr val="51706D"/>
                </a:solidFill>
                <a:latin typeface="Aptos"/>
              </a:rPr>
              <a:t>propuesta IA</a:t>
            </a:r>
          </a:p>
        </p:txBody>
      </p:sp>
      <p:sp>
        <p:nvSpPr>
          <p:cNvPr id="26" name="Left Arrow 25"/>
          <p:cNvSpPr/>
          <p:nvPr/>
        </p:nvSpPr>
        <p:spPr>
          <a:xfrm>
            <a:off x="7086600" y="3529584"/>
            <a:ext cx="713232" cy="164592"/>
          </a:xfrm>
          <a:prstGeom prst="lef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13448" y="3749039"/>
            <a:ext cx="941832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ctr"/>
            <a:r>
              <a:rPr sz="819" b="0">
                <a:solidFill>
                  <a:srgbClr val="51706D"/>
                </a:solidFill>
                <a:latin typeface="Aptos"/>
              </a:rPr>
              <a:t>feedback cl?nico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1627632"/>
            <a:ext cx="1920240" cy="384048"/>
          </a:xfrm>
          <a:prstGeom prst="roundRect">
            <a:avLst/>
          </a:prstGeom>
          <a:solidFill>
            <a:srgbClr val="15957F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Salidas del agente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549640" y="2404872"/>
            <a:ext cx="621792" cy="109728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35440" y="2240280"/>
            <a:ext cx="1691640" cy="47548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0" b="1">
                <a:solidFill>
                  <a:srgbClr val="123C3A"/>
                </a:solidFill>
                <a:latin typeface="Aptos"/>
              </a:rPr>
              <a:t>Plan sugerido
por fases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549640" y="3136392"/>
            <a:ext cx="621792" cy="109728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35440" y="2971800"/>
            <a:ext cx="1691640" cy="47548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0" b="1">
                <a:solidFill>
                  <a:srgbClr val="123C3A"/>
                </a:solidFill>
                <a:latin typeface="Aptos"/>
              </a:rPr>
              <a:t>Prioridad y
justificaci?n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549640" y="3867911"/>
            <a:ext cx="621792" cy="109728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235440" y="3703320"/>
            <a:ext cx="1691640" cy="47548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0" b="1">
                <a:solidFill>
                  <a:srgbClr val="123C3A"/>
                </a:solidFill>
                <a:latin typeface="Aptos"/>
              </a:rPr>
              <a:t>Costo estimado
y alternativas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549640" y="4599431"/>
            <a:ext cx="621792" cy="109728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235440" y="4434840"/>
            <a:ext cx="1691640" cy="47548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860" b="1">
                <a:solidFill>
                  <a:srgbClr val="123C3A"/>
                </a:solidFill>
                <a:latin typeface="Aptos"/>
              </a:rPr>
              <a:t>PDF / propuesta
para paciente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40680" y="4983480"/>
            <a:ext cx="3063240" cy="658368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38100" bIns="38100"/>
          <a:lstStyle/>
          <a:p>
            <a:pPr algn="ctr"/>
            <a:r>
              <a:rPr sz="1030" b="1">
                <a:solidFill>
                  <a:srgbClr val="123C3A"/>
                </a:solidFill>
                <a:latin typeface="Aptos"/>
              </a:rPr>
              <a:t>Firebase Firestore
planes + trazabilidad + auditor?a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6967728" y="3456432"/>
            <a:ext cx="484632" cy="1527048"/>
          </a:xfrm>
          <a:prstGeom prst="line">
            <a:avLst/>
          </a:prstGeom>
          <a:ln w="16510">
            <a:solidFill>
              <a:srgbClr val="1595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650992" y="3246120"/>
            <a:ext cx="795528" cy="1737360"/>
          </a:xfrm>
          <a:prstGeom prst="line">
            <a:avLst/>
          </a:prstGeom>
          <a:ln w="16510">
            <a:solidFill>
              <a:srgbClr val="6E5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77240" y="5779008"/>
            <a:ext cx="101498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78408" y="5961888"/>
            <a:ext cx="502920" cy="64008"/>
          </a:xfrm>
          <a:prstGeom prst="roundRect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00200" y="5907024"/>
            <a:ext cx="9189719" cy="2743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r>
              <a:rPr sz="1230" b="1">
                <a:solidFill>
                  <a:srgbClr val="123C3A"/>
                </a:solidFill>
                <a:latin typeface="Aptos"/>
              </a:rPr>
              <a:t>Regla de gobierno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5" y="6309360"/>
            <a:ext cx="9729215" cy="-54864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4000"/>
              </a:lnSpc>
              <a:defRPr sz="969">
                <a:solidFill>
                  <a:srgbClr val="51706D"/>
                </a:solidFill>
                <a:latin typeface="Aptos"/>
              </a:defRPr>
            </a:pPr>
            <a:r>
              <a:t>El agente no debe cerrar decisiones cl?nicas de forma autom?tica.</a:t>
            </a:r>
          </a:p>
          <a:p>
            <a:pPr>
              <a:lnSpc>
                <a:spcPct val="104000"/>
              </a:lnSpc>
              <a:defRPr sz="969">
                <a:solidFill>
                  <a:srgbClr val="51706D"/>
                </a:solidFill>
                <a:latin typeface="Aptos"/>
              </a:defRPr>
            </a:pPr>
            <a:r>
              <a:t>Debe generar recomendaciones explicables, editables y trazables.</a:t>
            </a:r>
          </a:p>
          <a:p>
            <a:pPr>
              <a:lnSpc>
                <a:spcPct val="104000"/>
              </a:lnSpc>
              <a:defRPr sz="969">
                <a:solidFill>
                  <a:srgbClr val="51706D"/>
                </a:solidFill>
                <a:latin typeface="Aptos"/>
              </a:defRPr>
            </a:pPr>
            <a:r>
              <a:t>La aprobaci?n final corresponde al odont?logo responsable.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Quiru - Arquitectura ejecutiva gr?fica</dc:title>
  <dc:subject>Interconexiones entre cliente, odont?logo, quiru_app, Firebase, Google Cloud NLP y Annyang</dc:subject>
  <dc:creator>Codex</dc:creator>
  <cp:keywords/>
  <dc:description>Deck ejecutivo generado para mostrar arquitectura gr?fica e interconexiones principales.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