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BF9237-19BB-4ED8-9402-B4BCFEDAD46B}" v="8" dt="2026-05-22T05:52:20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45672-8422-41C0-9341-E751B400F77F}" type="datetimeFigureOut">
              <a:rPr lang="es-PE" smtClean="0"/>
              <a:t>22/05/2026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77305-85EB-40EB-BA27-631BFA9EA18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21415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77305-85EB-40EB-BA27-631BFA9EA182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2314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77305-85EB-40EB-BA27-631BFA9EA182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3085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502920"/>
            <a:ext cx="1920240" cy="188196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713232"/>
            <a:ext cx="1874519" cy="29260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DCF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960" b="1" dirty="0" err="1">
                <a:solidFill>
                  <a:srgbClr val="15957F"/>
                </a:solidFill>
                <a:latin typeface="Aptos"/>
              </a:rPr>
              <a:t>Arquitectura</a:t>
            </a:r>
            <a:endParaRPr sz="960" b="1" dirty="0">
              <a:solidFill>
                <a:srgbClr val="15957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1261872"/>
            <a:ext cx="4389120" cy="59436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4400" b="1">
                <a:solidFill>
                  <a:srgbClr val="123C3A"/>
                </a:solidFill>
                <a:latin typeface="Aptos Display"/>
              </a:rPr>
              <a:t>Quiru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270878" cy="384721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lang="es-PE" sz="2500" b="1" dirty="0">
                <a:solidFill>
                  <a:srgbClr val="15957F"/>
                </a:solidFill>
                <a:latin typeface="Aptos Display"/>
              </a:rPr>
              <a:t>Asistente de voz</a:t>
            </a:r>
            <a:endParaRPr sz="2500" b="1" dirty="0">
              <a:solidFill>
                <a:srgbClr val="15957F"/>
              </a:solidFill>
              <a:latin typeface="Aptos Display"/>
            </a:endParaRPr>
          </a:p>
        </p:txBody>
      </p:sp>
      <p:sp>
        <p:nvSpPr>
          <p:cNvPr id="7" name="Oval 6"/>
          <p:cNvSpPr/>
          <p:nvPr/>
        </p:nvSpPr>
        <p:spPr>
          <a:xfrm>
            <a:off x="3973066" y="1824848"/>
            <a:ext cx="438912" cy="517568"/>
          </a:xfrm>
          <a:prstGeom prst="ellipse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Rounded Rectangle 7"/>
          <p:cNvSpPr/>
          <p:nvPr/>
        </p:nvSpPr>
        <p:spPr>
          <a:xfrm>
            <a:off x="3785616" y="2365544"/>
            <a:ext cx="786384" cy="733221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3869966" y="3162773"/>
            <a:ext cx="645113" cy="215444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1400" b="1">
                <a:solidFill>
                  <a:srgbClr val="123C3A"/>
                </a:solidFill>
                <a:latin typeface="Aptos"/>
              </a:rP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1998" y="3418804"/>
            <a:ext cx="561052" cy="161583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1050" b="0">
                <a:solidFill>
                  <a:srgbClr val="51706D"/>
                </a:solidFill>
                <a:latin typeface="Aptos"/>
              </a:rPr>
              <a:t>Paciente</a:t>
            </a:r>
          </a:p>
        </p:txBody>
      </p:sp>
      <p:sp>
        <p:nvSpPr>
          <p:cNvPr id="11" name="Oval 10"/>
          <p:cNvSpPr/>
          <p:nvPr/>
        </p:nvSpPr>
        <p:spPr>
          <a:xfrm>
            <a:off x="3911998" y="3642145"/>
            <a:ext cx="438912" cy="517568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3759475" y="4186251"/>
            <a:ext cx="786384" cy="733221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3661372" y="4983480"/>
            <a:ext cx="1010020" cy="215444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1400" b="1" dirty="0" err="1">
                <a:solidFill>
                  <a:srgbClr val="123C3A"/>
                </a:solidFill>
                <a:latin typeface="Aptos"/>
              </a:rPr>
              <a:t>Odont</a:t>
            </a:r>
            <a:r>
              <a:rPr lang="es-PE" sz="1400" b="1" dirty="0" err="1">
                <a:solidFill>
                  <a:srgbClr val="123C3A"/>
                </a:solidFill>
                <a:latin typeface="Aptos"/>
              </a:rPr>
              <a:t>ó</a:t>
            </a:r>
            <a:r>
              <a:rPr sz="1400" b="1" dirty="0">
                <a:solidFill>
                  <a:srgbClr val="123C3A"/>
                </a:solidFill>
                <a:latin typeface="Aptos"/>
              </a:rPr>
              <a:t>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7887" y="5239512"/>
            <a:ext cx="956993" cy="161583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1050" b="0" dirty="0" err="1">
                <a:solidFill>
                  <a:srgbClr val="51706D"/>
                </a:solidFill>
                <a:latin typeface="Aptos"/>
              </a:rPr>
              <a:t>Usuario</a:t>
            </a:r>
            <a:r>
              <a:rPr sz="1050" b="0" dirty="0">
                <a:solidFill>
                  <a:srgbClr val="51706D"/>
                </a:solidFill>
                <a:latin typeface="Aptos"/>
              </a:rPr>
              <a:t> </a:t>
            </a:r>
            <a:r>
              <a:rPr lang="es-PE" sz="1050" b="0" dirty="0">
                <a:solidFill>
                  <a:srgbClr val="51706D"/>
                </a:solidFill>
                <a:latin typeface="Aptos"/>
              </a:rPr>
              <a:t>clínico</a:t>
            </a:r>
            <a:endParaRPr sz="1050" b="0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12080" y="2144000"/>
            <a:ext cx="2103120" cy="2318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5286498" y="2283061"/>
            <a:ext cx="1956815" cy="452872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Oval 16"/>
          <p:cNvSpPr/>
          <p:nvPr/>
        </p:nvSpPr>
        <p:spPr>
          <a:xfrm>
            <a:off x="5451089" y="2468861"/>
            <a:ext cx="73152" cy="86261"/>
          </a:xfrm>
          <a:prstGeom prst="ellipse">
            <a:avLst/>
          </a:prstGeom>
          <a:solidFill>
            <a:srgbClr val="D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Oval 17"/>
          <p:cNvSpPr/>
          <p:nvPr/>
        </p:nvSpPr>
        <p:spPr>
          <a:xfrm>
            <a:off x="5597394" y="2457648"/>
            <a:ext cx="73152" cy="86261"/>
          </a:xfrm>
          <a:prstGeom prst="ellipse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Oval 18"/>
          <p:cNvSpPr/>
          <p:nvPr/>
        </p:nvSpPr>
        <p:spPr>
          <a:xfrm>
            <a:off x="5780274" y="2457648"/>
            <a:ext cx="73152" cy="86261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5926578" y="2423426"/>
            <a:ext cx="639599" cy="161583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050" b="0" dirty="0" err="1">
                <a:solidFill>
                  <a:srgbClr val="51706D"/>
                </a:solidFill>
                <a:latin typeface="Aptos"/>
              </a:rPr>
              <a:t>quiru_app</a:t>
            </a:r>
            <a:endParaRPr sz="1050" b="0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513832" y="3000119"/>
            <a:ext cx="1499616" cy="971437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Web </a:t>
            </a:r>
            <a:r>
              <a:rPr b="1" dirty="0" err="1">
                <a:solidFill>
                  <a:srgbClr val="FFFFFF"/>
                </a:solidFill>
                <a:latin typeface="Aptos"/>
              </a:rPr>
              <a:t>Quiru</a:t>
            </a:r>
            <a:r>
              <a:rPr b="1" dirty="0">
                <a:solidFill>
                  <a:srgbClr val="FFFFFF"/>
                </a:solidFill>
                <a:latin typeface="Aptos"/>
              </a:rPr>
              <a:t> App
Vue SPA</a:t>
            </a:r>
          </a:p>
        </p:txBody>
      </p:sp>
      <p:sp>
        <p:nvSpPr>
          <p:cNvPr id="22" name="Cloud 21"/>
          <p:cNvSpPr/>
          <p:nvPr/>
        </p:nvSpPr>
        <p:spPr>
          <a:xfrm>
            <a:off x="7860003" y="2520605"/>
            <a:ext cx="1611987" cy="1665646"/>
          </a:xfrm>
          <a:prstGeom prst="cloud">
            <a:avLst/>
          </a:prstGeom>
          <a:solidFill>
            <a:srgbClr val="DCFBF3"/>
          </a:solidFill>
          <a:ln w="1524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8091258" y="3014243"/>
            <a:ext cx="954813" cy="276999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b="1">
                <a:solidFill>
                  <a:srgbClr val="123C3A"/>
                </a:solidFill>
                <a:latin typeface="Aptos"/>
              </a:rPr>
              <a:t>Firebase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262" y="3380003"/>
            <a:ext cx="642805" cy="579133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rPr sz="1100"/>
              <a:t>Auth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rPr sz="1100"/>
              <a:t>Firestore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rPr sz="1100"/>
              <a:t>Storage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626864" y="2721797"/>
            <a:ext cx="502920" cy="19408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4728714" y="2522693"/>
            <a:ext cx="381516" cy="161583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1050" b="0">
                <a:solidFill>
                  <a:srgbClr val="51706D"/>
                </a:solidFill>
                <a:latin typeface="Aptos"/>
              </a:rPr>
              <a:t>datos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640580" y="4268184"/>
            <a:ext cx="502920" cy="19408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4382606" y="3986160"/>
            <a:ext cx="881653" cy="161583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1050" b="0" dirty="0" err="1">
                <a:solidFill>
                  <a:srgbClr val="51706D"/>
                </a:solidFill>
                <a:latin typeface="Aptos"/>
              </a:rPr>
              <a:t>voz</a:t>
            </a:r>
            <a:r>
              <a:rPr sz="1050" b="0" dirty="0">
                <a:solidFill>
                  <a:srgbClr val="51706D"/>
                </a:solidFill>
                <a:latin typeface="Aptos"/>
              </a:rPr>
              <a:t> + </a:t>
            </a:r>
            <a:r>
              <a:rPr sz="1050" b="0" dirty="0" err="1">
                <a:solidFill>
                  <a:srgbClr val="51706D"/>
                </a:solidFill>
                <a:latin typeface="Aptos"/>
              </a:rPr>
              <a:t>atenci</a:t>
            </a:r>
            <a:r>
              <a:rPr lang="es-PE" sz="1050" b="0" dirty="0" err="1">
                <a:solidFill>
                  <a:srgbClr val="51706D"/>
                </a:solidFill>
                <a:latin typeface="Aptos"/>
              </a:rPr>
              <a:t>ó</a:t>
            </a:r>
            <a:r>
              <a:rPr sz="1050" b="0" dirty="0">
                <a:solidFill>
                  <a:srgbClr val="51706D"/>
                </a:solidFill>
                <a:latin typeface="Aptos"/>
              </a:rPr>
              <a:t>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326998" y="3343695"/>
            <a:ext cx="438912" cy="19408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7426500" y="3144591"/>
            <a:ext cx="322204" cy="161583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1050" b="0">
                <a:solidFill>
                  <a:srgbClr val="51706D"/>
                </a:solidFill>
                <a:latin typeface="Aptos"/>
              </a:rPr>
              <a:t>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46520"/>
            <a:ext cx="969817" cy="12926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lang="es-PE" sz="840" b="0" dirty="0" err="1">
                <a:solidFill>
                  <a:srgbClr val="51706D"/>
                </a:solidFill>
                <a:latin typeface="Aptos"/>
              </a:rPr>
              <a:t>Quiru</a:t>
            </a:r>
            <a:r>
              <a:rPr lang="es-PE" sz="840" b="0" dirty="0">
                <a:solidFill>
                  <a:srgbClr val="51706D"/>
                </a:solidFill>
                <a:latin typeface="Aptos"/>
              </a:rPr>
              <a:t> | Arquitectura</a:t>
            </a:r>
            <a:endParaRPr sz="840" b="0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5098575" cy="44627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2900" b="1" dirty="0" err="1">
                <a:solidFill>
                  <a:srgbClr val="123C3A"/>
                </a:solidFill>
                <a:latin typeface="Aptos Display"/>
              </a:rPr>
              <a:t>Arquitectura</a:t>
            </a:r>
            <a:r>
              <a:rPr sz="2900" b="1" dirty="0">
                <a:solidFill>
                  <a:srgbClr val="123C3A"/>
                </a:solidFill>
                <a:latin typeface="Aptos Display"/>
              </a:rPr>
              <a:t> de </a:t>
            </a:r>
            <a:r>
              <a:rPr sz="2900" b="1" dirty="0" err="1">
                <a:solidFill>
                  <a:srgbClr val="123C3A"/>
                </a:solidFill>
                <a:latin typeface="Aptos Display"/>
              </a:rPr>
              <a:t>interconexiones</a:t>
            </a:r>
            <a:endParaRPr sz="2900" b="1" dirty="0">
              <a:solidFill>
                <a:srgbClr val="123C3A"/>
              </a:solidFill>
              <a:latin typeface="Aptos Display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7" y="6527168"/>
            <a:ext cx="969817" cy="12926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lang="es-PE" sz="840" b="0" dirty="0" err="1">
                <a:solidFill>
                  <a:srgbClr val="51706D"/>
                </a:solidFill>
                <a:latin typeface="Aptos"/>
              </a:rPr>
              <a:t>Quiru</a:t>
            </a:r>
            <a:r>
              <a:rPr lang="es-PE" sz="840" b="0" dirty="0">
                <a:solidFill>
                  <a:srgbClr val="51706D"/>
                </a:solidFill>
                <a:latin typeface="Aptos"/>
              </a:rPr>
              <a:t> | Arquitectura</a:t>
            </a:r>
            <a:endParaRPr sz="840" b="0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042415" y="1828800"/>
            <a:ext cx="438912" cy="438912"/>
          </a:xfrm>
          <a:prstGeom prst="ellipse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2286000"/>
            <a:ext cx="786384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7" y="2971800"/>
            <a:ext cx="1508760" cy="21945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1080" b="1">
                <a:solidFill>
                  <a:srgbClr val="123C3A"/>
                </a:solidFill>
                <a:latin typeface="Aptos"/>
              </a:rP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227832"/>
            <a:ext cx="1691640" cy="256032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Datos, citas, consentimiento</a:t>
            </a:r>
          </a:p>
        </p:txBody>
      </p:sp>
      <p:sp>
        <p:nvSpPr>
          <p:cNvPr id="12" name="Oval 11"/>
          <p:cNvSpPr/>
          <p:nvPr/>
        </p:nvSpPr>
        <p:spPr>
          <a:xfrm>
            <a:off x="1042415" y="4069080"/>
            <a:ext cx="438912" cy="438912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4526280"/>
            <a:ext cx="786384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6439" y="5212080"/>
            <a:ext cx="798295" cy="166199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lang="es-PE" sz="1080" b="1" dirty="0">
                <a:solidFill>
                  <a:srgbClr val="123C3A"/>
                </a:solidFill>
                <a:latin typeface="Aptos"/>
              </a:rPr>
              <a:t>Odontólogo</a:t>
            </a:r>
            <a:endParaRPr sz="1080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6754" y="5468112"/>
            <a:ext cx="1317668" cy="135422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lang="es-PE" sz="880" b="0" dirty="0">
                <a:solidFill>
                  <a:srgbClr val="51706D"/>
                </a:solidFill>
                <a:latin typeface="Aptos"/>
              </a:rPr>
              <a:t>atención</a:t>
            </a:r>
            <a:r>
              <a:rPr sz="880" b="0" dirty="0">
                <a:solidFill>
                  <a:srgbClr val="51706D"/>
                </a:solidFill>
                <a:latin typeface="Aptos"/>
              </a:rPr>
              <a:t>, </a:t>
            </a:r>
            <a:r>
              <a:rPr sz="880" b="0" dirty="0" err="1">
                <a:solidFill>
                  <a:srgbClr val="51706D"/>
                </a:solidFill>
                <a:latin typeface="Aptos"/>
              </a:rPr>
              <a:t>dictado</a:t>
            </a:r>
            <a:r>
              <a:rPr sz="880" b="0" dirty="0">
                <a:solidFill>
                  <a:srgbClr val="51706D"/>
                </a:solidFill>
                <a:latin typeface="Aptos"/>
              </a:rPr>
              <a:t>, </a:t>
            </a:r>
            <a:r>
              <a:rPr sz="880" b="0" dirty="0" err="1">
                <a:solidFill>
                  <a:srgbClr val="51706D"/>
                </a:solidFill>
                <a:latin typeface="Aptos"/>
              </a:rPr>
              <a:t>gesti</a:t>
            </a:r>
            <a:r>
              <a:rPr lang="es-PE" sz="880" b="0" dirty="0" err="1">
                <a:solidFill>
                  <a:srgbClr val="51706D"/>
                </a:solidFill>
                <a:latin typeface="Aptos"/>
              </a:rPr>
              <a:t>ó</a:t>
            </a:r>
            <a:r>
              <a:rPr sz="880" b="0" dirty="0">
                <a:solidFill>
                  <a:srgbClr val="51706D"/>
                </a:solidFill>
                <a:latin typeface="Aptos"/>
              </a:rPr>
              <a:t>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1508760"/>
            <a:ext cx="41605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520962" y="1522476"/>
            <a:ext cx="4014215" cy="384048"/>
          </a:xfrm>
          <a:prstGeom prst="roundRect">
            <a:avLst/>
          </a:prstGeom>
          <a:solidFill>
            <a:srgbClr val="EC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48978" y="1641348"/>
            <a:ext cx="73152" cy="73152"/>
          </a:xfrm>
          <a:prstGeom prst="ellipse">
            <a:avLst/>
          </a:prstGeom>
          <a:solidFill>
            <a:srgbClr val="D6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831858" y="1641348"/>
            <a:ext cx="73152" cy="73152"/>
          </a:xfrm>
          <a:prstGeom prst="ellipse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014738" y="1641348"/>
            <a:ext cx="73152" cy="73152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88473" y="1623060"/>
            <a:ext cx="3246120" cy="18288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880" b="0" dirty="0" err="1">
                <a:solidFill>
                  <a:srgbClr val="51706D"/>
                </a:solidFill>
                <a:latin typeface="Aptos"/>
              </a:rPr>
              <a:t>Navegador</a:t>
            </a:r>
            <a:r>
              <a:rPr sz="880" b="0" dirty="0">
                <a:solidFill>
                  <a:srgbClr val="51706D"/>
                </a:solidFill>
                <a:latin typeface="Aptos"/>
              </a:rPr>
              <a:t> web / </a:t>
            </a:r>
            <a:r>
              <a:rPr sz="880" b="0" dirty="0" err="1">
                <a:solidFill>
                  <a:srgbClr val="51706D"/>
                </a:solidFill>
                <a:latin typeface="Aptos"/>
              </a:rPr>
              <a:t>dispositivo</a:t>
            </a:r>
            <a:r>
              <a:rPr sz="880" b="0" dirty="0">
                <a:solidFill>
                  <a:srgbClr val="51706D"/>
                </a:solidFill>
                <a:latin typeface="Aptos"/>
              </a:rPr>
              <a:t> del </a:t>
            </a:r>
            <a:r>
              <a:rPr sz="880" b="0" dirty="0" err="1">
                <a:solidFill>
                  <a:srgbClr val="51706D"/>
                </a:solidFill>
                <a:latin typeface="Aptos"/>
              </a:rPr>
              <a:t>usuario</a:t>
            </a:r>
            <a:endParaRPr sz="880" b="0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971800" y="2057400"/>
            <a:ext cx="3063240" cy="960120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700" b="1" dirty="0" err="1">
                <a:solidFill>
                  <a:srgbClr val="FFFFFF"/>
                </a:solidFill>
                <a:latin typeface="Aptos"/>
              </a:rPr>
              <a:t>quiru_app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Web
Vue 3 SPA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337560"/>
            <a:ext cx="914400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Pacientes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7328" y="3337560"/>
            <a:ext cx="713232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Citas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0288" y="3337560"/>
            <a:ext cx="987552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s-PE" sz="880" b="1" dirty="0">
                <a:solidFill>
                  <a:srgbClr val="123C3A"/>
                </a:solidFill>
                <a:latin typeface="Aptos"/>
              </a:rPr>
              <a:t>Admisión</a:t>
            </a:r>
            <a:endParaRPr sz="880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743200" y="3767328"/>
            <a:ext cx="1225296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Odontograma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6512" y="3767328"/>
            <a:ext cx="621792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28032" y="3767328"/>
            <a:ext cx="530352" cy="310896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07792" y="4572000"/>
            <a:ext cx="3200400" cy="658368"/>
          </a:xfrm>
          <a:prstGeom prst="roundRect">
            <a:avLst/>
          </a:prstGeom>
          <a:solidFill>
            <a:srgbClr val="FFF6DA"/>
          </a:solidFill>
          <a:ln w="13335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050" b="1">
                <a:solidFill>
                  <a:srgbClr val="123C3A"/>
                </a:solidFill>
                <a:latin typeface="Aptos"/>
              </a:rPr>
              <a:t>Annyang + Web Speech API
Reconocimiento de voz en navegador</a:t>
            </a:r>
          </a:p>
        </p:txBody>
      </p:sp>
      <p:sp>
        <p:nvSpPr>
          <p:cNvPr id="30" name="Cloud 29"/>
          <p:cNvSpPr/>
          <p:nvPr/>
        </p:nvSpPr>
        <p:spPr>
          <a:xfrm>
            <a:off x="7452360" y="1417320"/>
            <a:ext cx="3063240" cy="1965960"/>
          </a:xfrm>
          <a:prstGeom prst="cloud">
            <a:avLst/>
          </a:prstGeom>
          <a:solidFill>
            <a:srgbClr val="DCFBF3"/>
          </a:solidFill>
          <a:ln w="1524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0" y="1673352"/>
            <a:ext cx="2606040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1240" b="1">
                <a:solidFill>
                  <a:srgbClr val="123C3A"/>
                </a:solidFill>
                <a:latin typeface="Aptos"/>
              </a:rPr>
              <a:t>Firebase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6329" y="2039112"/>
            <a:ext cx="1335302" cy="640816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rPr dirty="0"/>
              <a:t>Hosting: </a:t>
            </a:r>
            <a:r>
              <a:rPr dirty="0" err="1"/>
              <a:t>entrega</a:t>
            </a:r>
            <a:r>
              <a:rPr dirty="0"/>
              <a:t> app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rPr dirty="0"/>
              <a:t>Auth: </a:t>
            </a:r>
            <a:r>
              <a:rPr dirty="0" err="1"/>
              <a:t>identidad</a:t>
            </a:r>
            <a:endParaRPr dirty="0"/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Firestore</a:t>
            </a:r>
            <a:r>
              <a:rPr dirty="0"/>
              <a:t>: </a:t>
            </a:r>
            <a:r>
              <a:rPr dirty="0" err="1"/>
              <a:t>datos</a:t>
            </a:r>
            <a:r>
              <a:rPr dirty="0"/>
              <a:t> </a:t>
            </a:r>
            <a:r>
              <a:rPr lang="es-PE" dirty="0"/>
              <a:t>clínico</a:t>
            </a:r>
            <a:r>
              <a:rPr dirty="0"/>
              <a:t>s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rPr dirty="0"/>
              <a:t>Storage: </a:t>
            </a:r>
            <a:r>
              <a:rPr dirty="0" err="1"/>
              <a:t>archivos</a:t>
            </a:r>
            <a:endParaRPr dirty="0"/>
          </a:p>
        </p:txBody>
      </p:sp>
      <p:sp>
        <p:nvSpPr>
          <p:cNvPr id="33" name="Cloud 32"/>
          <p:cNvSpPr/>
          <p:nvPr/>
        </p:nvSpPr>
        <p:spPr>
          <a:xfrm>
            <a:off x="7607808" y="3977639"/>
            <a:ext cx="2834640" cy="1691640"/>
          </a:xfrm>
          <a:prstGeom prst="cloud">
            <a:avLst/>
          </a:prstGeom>
          <a:solidFill>
            <a:srgbClr val="E2EEFF"/>
          </a:solidFill>
          <a:ln w="15240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36408" y="4233672"/>
            <a:ext cx="2377440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1240" b="1">
                <a:solidFill>
                  <a:srgbClr val="123C3A"/>
                </a:solidFill>
                <a:latin typeface="Aptos"/>
              </a:rPr>
              <a:t>Google Cloud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173" y="4599431"/>
            <a:ext cx="1445909" cy="492314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rPr dirty="0"/>
              <a:t>Machine Learning / NLP</a:t>
            </a:r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rPr dirty="0"/>
              <a:t>Cloud Function </a:t>
            </a:r>
            <a:r>
              <a:rPr dirty="0" err="1"/>
              <a:t>corecttext</a:t>
            </a:r>
            <a:endParaRPr dirty="0"/>
          </a:p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rPr lang="es-PE" dirty="0"/>
              <a:t>normalización</a:t>
            </a:r>
            <a:r>
              <a:rPr dirty="0"/>
              <a:t> de </a:t>
            </a:r>
            <a:r>
              <a:rPr dirty="0" err="1"/>
              <a:t>lenguaje</a:t>
            </a:r>
            <a:endParaRPr dirty="0"/>
          </a:p>
        </p:txBody>
      </p:sp>
      <p:sp>
        <p:nvSpPr>
          <p:cNvPr id="36" name="Rounded Rectangle 35"/>
          <p:cNvSpPr/>
          <p:nvPr/>
        </p:nvSpPr>
        <p:spPr>
          <a:xfrm>
            <a:off x="9738360" y="5559552"/>
            <a:ext cx="1691640" cy="65836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950" b="1">
                <a:solidFill>
                  <a:srgbClr val="123C3A"/>
                </a:solidFill>
                <a:latin typeface="Aptos"/>
              </a:rPr>
              <a:t>Google Calendar API
agenda y disponibilidad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783080" y="2523744"/>
            <a:ext cx="658368" cy="164592"/>
          </a:xfrm>
          <a:prstGeom prst="rightArrow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632065" y="2368296"/>
            <a:ext cx="886968" cy="201168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819" b="0" dirty="0" err="1">
                <a:solidFill>
                  <a:srgbClr val="51706D"/>
                </a:solidFill>
                <a:latin typeface="Aptos"/>
              </a:rPr>
              <a:t>datos</a:t>
            </a:r>
            <a:r>
              <a:rPr sz="819" b="0" dirty="0">
                <a:solidFill>
                  <a:srgbClr val="51706D"/>
                </a:solidFill>
                <a:latin typeface="Aptos"/>
              </a:rPr>
              <a:t> / </a:t>
            </a:r>
            <a:r>
              <a:rPr sz="819" b="0" dirty="0" err="1">
                <a:solidFill>
                  <a:srgbClr val="51706D"/>
                </a:solidFill>
                <a:latin typeface="Aptos"/>
              </a:rPr>
              <a:t>citas</a:t>
            </a:r>
            <a:endParaRPr sz="819" b="0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39" name="Right Arrow 38"/>
          <p:cNvSpPr/>
          <p:nvPr/>
        </p:nvSpPr>
        <p:spPr>
          <a:xfrm>
            <a:off x="1783080" y="4736592"/>
            <a:ext cx="658368" cy="16459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28190" y="4507992"/>
            <a:ext cx="450444" cy="12606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lang="es-PE" sz="819" b="0" dirty="0">
                <a:solidFill>
                  <a:srgbClr val="51706D"/>
                </a:solidFill>
                <a:latin typeface="Aptos"/>
              </a:rPr>
              <a:t>atención</a:t>
            </a:r>
            <a:endParaRPr sz="819" b="0" dirty="0">
              <a:solidFill>
                <a:srgbClr val="51706D"/>
              </a:solidFill>
              <a:latin typeface="Aptos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1508760" y="4617720"/>
            <a:ext cx="1399032" cy="283464"/>
          </a:xfrm>
          <a:prstGeom prst="line">
            <a:avLst/>
          </a:prstGeom>
          <a:ln w="22860">
            <a:solidFill>
              <a:srgbClr val="F6BF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057400" y="4736592"/>
            <a:ext cx="320040" cy="164592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voz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6446520" y="2395728"/>
            <a:ext cx="1143000" cy="16459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73368" y="2167128"/>
            <a:ext cx="1371600" cy="201168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auth + datos + archivos</a:t>
            </a:r>
          </a:p>
        </p:txBody>
      </p:sp>
      <p:sp>
        <p:nvSpPr>
          <p:cNvPr id="45" name="Left Arrow 44"/>
          <p:cNvSpPr/>
          <p:nvPr/>
        </p:nvSpPr>
        <p:spPr>
          <a:xfrm>
            <a:off x="7543800" y="2770632"/>
            <a:ext cx="1051560" cy="164592"/>
          </a:xfrm>
          <a:prstGeom prst="leftArrow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02946" y="2907792"/>
            <a:ext cx="1280160" cy="201168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819" b="0" dirty="0" err="1">
                <a:solidFill>
                  <a:srgbClr val="51706D"/>
                </a:solidFill>
                <a:latin typeface="Aptos"/>
              </a:rPr>
              <a:t>tiempo</a:t>
            </a:r>
            <a:r>
              <a:rPr sz="819" b="0" dirty="0">
                <a:solidFill>
                  <a:srgbClr val="51706D"/>
                </a:solidFill>
                <a:latin typeface="Aptos"/>
              </a:rPr>
              <a:t> real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6053328" y="4800600"/>
            <a:ext cx="1764792" cy="91440"/>
          </a:xfrm>
          <a:prstGeom prst="line">
            <a:avLst/>
          </a:prstGeom>
          <a:ln w="22860">
            <a:solidFill>
              <a:srgbClr val="376B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080760" y="4590288"/>
            <a:ext cx="1783080" cy="18288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texto dudoso / correcci?n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6053328" y="5120640"/>
            <a:ext cx="1792224" cy="18288"/>
          </a:xfrm>
          <a:prstGeom prst="line">
            <a:avLst/>
          </a:prstGeom>
          <a:ln w="22860">
            <a:solidFill>
              <a:srgbClr val="376B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63640" y="5193792"/>
            <a:ext cx="1508760" cy="18288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texto normalizado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80760" y="3611880"/>
            <a:ext cx="3657600" cy="2194560"/>
          </a:xfrm>
          <a:prstGeom prst="line">
            <a:avLst/>
          </a:prstGeom>
          <a:ln w="1778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900416" y="4617720"/>
            <a:ext cx="457200" cy="164592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800" b="0">
                <a:solidFill>
                  <a:srgbClr val="51706D"/>
                </a:solidFill>
                <a:latin typeface="Aptos"/>
              </a:rPr>
              <a:t>citas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81328" y="6144768"/>
            <a:ext cx="9052560" cy="29260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EC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40" b="1" dirty="0" err="1">
                <a:solidFill>
                  <a:srgbClr val="123C3A"/>
                </a:solidFill>
                <a:latin typeface="Aptos"/>
              </a:rPr>
              <a:t>Cliente</a:t>
            </a:r>
            <a:r>
              <a:rPr sz="840" b="1" dirty="0">
                <a:solidFill>
                  <a:srgbClr val="123C3A"/>
                </a:solidFill>
                <a:latin typeface="Aptos"/>
              </a:rPr>
              <a:t> y </a:t>
            </a:r>
            <a:r>
              <a:rPr lang="es-PE" sz="840" b="1" dirty="0">
                <a:solidFill>
                  <a:srgbClr val="123C3A"/>
                </a:solidFill>
                <a:latin typeface="Aptos"/>
              </a:rPr>
              <a:t>Odontólogo</a:t>
            </a:r>
            <a:r>
              <a:rPr sz="840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40" b="1" dirty="0" err="1">
                <a:solidFill>
                  <a:srgbClr val="123C3A"/>
                </a:solidFill>
                <a:latin typeface="Aptos"/>
              </a:rPr>
              <a:t>interact?an</a:t>
            </a:r>
            <a:r>
              <a:rPr sz="840" b="1" dirty="0">
                <a:solidFill>
                  <a:srgbClr val="123C3A"/>
                </a:solidFill>
                <a:latin typeface="Aptos"/>
              </a:rPr>
              <a:t> con </a:t>
            </a:r>
            <a:r>
              <a:rPr sz="840" b="1" dirty="0" err="1">
                <a:solidFill>
                  <a:srgbClr val="123C3A"/>
                </a:solidFill>
                <a:latin typeface="Aptos"/>
              </a:rPr>
              <a:t>una</a:t>
            </a:r>
            <a:r>
              <a:rPr sz="840" b="1" dirty="0">
                <a:solidFill>
                  <a:srgbClr val="123C3A"/>
                </a:solidFill>
                <a:latin typeface="Aptos"/>
              </a:rPr>
              <a:t> SPA </a:t>
            </a:r>
            <a:r>
              <a:rPr sz="840" b="1" dirty="0" err="1">
                <a:solidFill>
                  <a:srgbClr val="123C3A"/>
                </a:solidFill>
                <a:latin typeface="Aptos"/>
              </a:rPr>
              <a:t>cliente-pesada</a:t>
            </a:r>
            <a:r>
              <a:rPr sz="840" b="1" dirty="0">
                <a:solidFill>
                  <a:srgbClr val="123C3A"/>
                </a:solidFill>
                <a:latin typeface="Aptos"/>
              </a:rPr>
              <a:t>; Firebase </a:t>
            </a:r>
            <a:r>
              <a:rPr sz="840" b="1" dirty="0" err="1">
                <a:solidFill>
                  <a:srgbClr val="123C3A"/>
                </a:solidFill>
                <a:latin typeface="Aptos"/>
              </a:rPr>
              <a:t>persiste</a:t>
            </a:r>
            <a:r>
              <a:rPr sz="840" b="1" dirty="0">
                <a:solidFill>
                  <a:srgbClr val="123C3A"/>
                </a:solidFill>
                <a:latin typeface="Aptos"/>
              </a:rPr>
              <a:t> y </a:t>
            </a:r>
            <a:r>
              <a:rPr sz="840" b="1" dirty="0" err="1">
                <a:solidFill>
                  <a:srgbClr val="123C3A"/>
                </a:solidFill>
                <a:latin typeface="Aptos"/>
              </a:rPr>
              <a:t>sincroniza</a:t>
            </a:r>
            <a:r>
              <a:rPr sz="840" b="1" dirty="0">
                <a:solidFill>
                  <a:srgbClr val="123C3A"/>
                </a:solidFill>
                <a:latin typeface="Aptos"/>
              </a:rPr>
              <a:t>; NLP </a:t>
            </a:r>
            <a:r>
              <a:rPr sz="840" b="1" dirty="0" err="1">
                <a:solidFill>
                  <a:srgbClr val="123C3A"/>
                </a:solidFill>
                <a:latin typeface="Aptos"/>
              </a:rPr>
              <a:t>apoya</a:t>
            </a:r>
            <a:r>
              <a:rPr sz="840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40" b="1" dirty="0" err="1">
                <a:solidFill>
                  <a:srgbClr val="123C3A"/>
                </a:solidFill>
                <a:latin typeface="Aptos"/>
              </a:rPr>
              <a:t>el</a:t>
            </a:r>
            <a:r>
              <a:rPr sz="840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40" b="1" dirty="0" err="1">
                <a:solidFill>
                  <a:srgbClr val="123C3A"/>
                </a:solidFill>
                <a:latin typeface="Aptos"/>
              </a:rPr>
              <a:t>reconocimiento</a:t>
            </a:r>
            <a:r>
              <a:rPr sz="840" b="1" dirty="0">
                <a:solidFill>
                  <a:srgbClr val="123C3A"/>
                </a:solidFill>
                <a:latin typeface="Aptos"/>
              </a:rPr>
              <a:t> de </a:t>
            </a:r>
            <a:r>
              <a:rPr sz="840" b="1" dirty="0" err="1">
                <a:solidFill>
                  <a:srgbClr val="123C3A"/>
                </a:solidFill>
                <a:latin typeface="Aptos"/>
              </a:rPr>
              <a:t>voz</a:t>
            </a:r>
            <a:r>
              <a:rPr sz="840" b="1" dirty="0">
                <a:solidFill>
                  <a:srgbClr val="123C3A"/>
                </a:solidFill>
                <a:latin typeface="Aptos"/>
              </a:rPr>
              <a:t>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03720" y="5513832"/>
            <a:ext cx="2423160" cy="566928"/>
          </a:xfrm>
          <a:prstGeom prst="roundRect">
            <a:avLst/>
          </a:prstGeom>
          <a:solidFill>
            <a:srgbClr val="F0EBFF"/>
          </a:solidFill>
          <a:ln w="13335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919" b="1">
                <a:solidFill>
                  <a:srgbClr val="123C3A"/>
                </a:solidFill>
                <a:latin typeface="Aptos"/>
              </a:rPr>
              <a:t>Agente IA
Plan de tratamiento
PROPUESTO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95159" y="5605272"/>
            <a:ext cx="310896" cy="201168"/>
          </a:xfrm>
          <a:prstGeom prst="roundRect">
            <a:avLst/>
          </a:prstGeom>
          <a:solidFill>
            <a:srgbClr val="6E56CF"/>
          </a:solidFill>
          <a:ln w="13335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IA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60720" y="4526280"/>
            <a:ext cx="1143000" cy="1216152"/>
          </a:xfrm>
          <a:prstGeom prst="line">
            <a:avLst/>
          </a:prstGeom>
          <a:ln w="1905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001000" y="5413248"/>
            <a:ext cx="612648" cy="100584"/>
          </a:xfrm>
          <a:prstGeom prst="line">
            <a:avLst/>
          </a:prstGeom>
          <a:ln w="1651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406640" y="3090672"/>
            <a:ext cx="777239" cy="2423160"/>
          </a:xfrm>
          <a:prstGeom prst="line">
            <a:avLst/>
          </a:prstGeom>
          <a:ln w="1524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016752" y="4983480"/>
            <a:ext cx="1143000" cy="18288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780" b="0">
                <a:solidFill>
                  <a:srgbClr val="51706D"/>
                </a:solidFill>
                <a:latin typeface="Aptos"/>
              </a:rPr>
              <a:t>sugerencia de plan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71600" y="6099048"/>
            <a:ext cx="9464040" cy="393192"/>
          </a:xfrm>
          <a:prstGeom prst="roundRect">
            <a:avLst/>
          </a:prstGeom>
          <a:solidFill>
            <a:srgbClr val="F6FFFC"/>
          </a:solidFill>
          <a:ln w="13335">
            <a:solidFill>
              <a:srgbClr val="F6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1455420" y="6147551"/>
            <a:ext cx="9281160" cy="29260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EC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00" b="1" dirty="0" err="1">
                <a:solidFill>
                  <a:srgbClr val="123C3A"/>
                </a:solidFill>
                <a:latin typeface="Aptos"/>
              </a:rPr>
              <a:t>Agente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IA propone plan de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tratamiento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usando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hallazgos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,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historia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</a:t>
            </a:r>
            <a:r>
              <a:rPr lang="es-PE" sz="800" b="1" dirty="0">
                <a:solidFill>
                  <a:srgbClr val="123C3A"/>
                </a:solidFill>
                <a:latin typeface="Aptos"/>
              </a:rPr>
              <a:t>clínica 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y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precios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;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el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</a:t>
            </a:r>
            <a:r>
              <a:rPr lang="es-PE" sz="800" b="1" dirty="0">
                <a:solidFill>
                  <a:srgbClr val="123C3A"/>
                </a:solidFill>
                <a:latin typeface="Aptos"/>
              </a:rPr>
              <a:t>Odontólogo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revisa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y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aprueba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2900" b="1" dirty="0" err="1">
                <a:solidFill>
                  <a:srgbClr val="123C3A"/>
                </a:solidFill>
                <a:latin typeface="Aptos Display"/>
              </a:rPr>
              <a:t>Flujo</a:t>
            </a:r>
            <a:r>
              <a:rPr sz="2900" b="1" dirty="0">
                <a:solidFill>
                  <a:srgbClr val="123C3A"/>
                </a:solidFill>
                <a:latin typeface="Aptos Display"/>
              </a:rPr>
              <a:t> de </a:t>
            </a:r>
            <a:r>
              <a:rPr sz="2900" b="1" dirty="0" err="1">
                <a:solidFill>
                  <a:srgbClr val="123C3A"/>
                </a:solidFill>
                <a:latin typeface="Aptos Display"/>
              </a:rPr>
              <a:t>voz</a:t>
            </a:r>
            <a:r>
              <a:rPr sz="2900" b="1" dirty="0">
                <a:solidFill>
                  <a:srgbClr val="123C3A"/>
                </a:solidFill>
                <a:latin typeface="Aptos Display"/>
              </a:rPr>
              <a:t> y </a:t>
            </a:r>
            <a:r>
              <a:rPr sz="2900" b="1" dirty="0" err="1">
                <a:solidFill>
                  <a:srgbClr val="123C3A"/>
                </a:solidFill>
                <a:latin typeface="Aptos Display"/>
              </a:rPr>
              <a:t>procesamiento</a:t>
            </a:r>
            <a:r>
              <a:rPr sz="2900" b="1" dirty="0">
                <a:solidFill>
                  <a:srgbClr val="123C3A"/>
                </a:solidFill>
                <a:latin typeface="Aptos Display"/>
              </a:rPr>
              <a:t> de </a:t>
            </a:r>
            <a:r>
              <a:rPr sz="2900" b="1" dirty="0" err="1">
                <a:solidFill>
                  <a:srgbClr val="123C3A"/>
                </a:solidFill>
                <a:latin typeface="Aptos Display"/>
              </a:rPr>
              <a:t>lenguaje</a:t>
            </a:r>
            <a:endParaRPr sz="2900" b="1" dirty="0">
              <a:solidFill>
                <a:srgbClr val="123C3A"/>
              </a:solidFill>
              <a:latin typeface="Aptos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4567404" cy="187744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20" b="0" dirty="0">
                <a:solidFill>
                  <a:srgbClr val="51706D"/>
                </a:solidFill>
                <a:latin typeface="Aptos"/>
              </a:rPr>
              <a:t>C</a:t>
            </a:r>
            <a:r>
              <a:rPr lang="es-PE" sz="1220" b="0" dirty="0" err="1">
                <a:solidFill>
                  <a:srgbClr val="51706D"/>
                </a:solidFill>
                <a:latin typeface="Aptos"/>
              </a:rPr>
              <a:t>ó</a:t>
            </a:r>
            <a:r>
              <a:rPr sz="1220" b="0" dirty="0" err="1">
                <a:solidFill>
                  <a:srgbClr val="51706D"/>
                </a:solidFill>
                <a:latin typeface="Aptos"/>
              </a:rPr>
              <a:t>mo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 un </a:t>
            </a:r>
            <a:r>
              <a:rPr sz="1220" b="0" dirty="0" err="1">
                <a:solidFill>
                  <a:srgbClr val="51706D"/>
                </a:solidFill>
                <a:latin typeface="Aptos"/>
              </a:rPr>
              <a:t>dictado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 </a:t>
            </a:r>
            <a:r>
              <a:rPr lang="es-PE" sz="1220" b="0" dirty="0">
                <a:solidFill>
                  <a:srgbClr val="51706D"/>
                </a:solidFill>
                <a:latin typeface="Aptos"/>
              </a:rPr>
              <a:t>clínico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 se </a:t>
            </a:r>
            <a:r>
              <a:rPr sz="1220" b="0" dirty="0" err="1">
                <a:solidFill>
                  <a:srgbClr val="51706D"/>
                </a:solidFill>
                <a:latin typeface="Aptos"/>
              </a:rPr>
              <a:t>convierte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51706D"/>
                </a:solidFill>
                <a:latin typeface="Aptos"/>
              </a:rPr>
              <a:t>en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51706D"/>
                </a:solidFill>
                <a:latin typeface="Aptos"/>
              </a:rPr>
              <a:t>hallazgo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 del </a:t>
            </a:r>
            <a:r>
              <a:rPr sz="1220" b="0" dirty="0" err="1">
                <a:solidFill>
                  <a:srgbClr val="51706D"/>
                </a:solidFill>
                <a:latin typeface="Aptos"/>
              </a:rPr>
              <a:t>odontograma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969817" cy="12926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lang="es-PE" sz="840" b="0" dirty="0" err="1">
                <a:solidFill>
                  <a:srgbClr val="51706D"/>
                </a:solidFill>
                <a:latin typeface="Aptos"/>
              </a:rPr>
              <a:t>Quiru</a:t>
            </a:r>
            <a:r>
              <a:rPr lang="es-PE" sz="840" b="0" dirty="0">
                <a:solidFill>
                  <a:srgbClr val="51706D"/>
                </a:solidFill>
                <a:latin typeface="Aptos"/>
              </a:rPr>
              <a:t> | Arquitectura</a:t>
            </a:r>
            <a:endParaRPr sz="840" b="0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03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1828800"/>
            <a:ext cx="347472" cy="347472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67712"/>
            <a:ext cx="1444752" cy="1143000"/>
          </a:xfrm>
          <a:prstGeom prst="roundRect">
            <a:avLst/>
          </a:prstGeom>
          <a:solidFill>
            <a:srgbClr val="DCFBF3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4088" y="2450592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6474" y="2265837"/>
            <a:ext cx="1321067" cy="193899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lang="es-PE" sz="1260" b="1" dirty="0">
                <a:solidFill>
                  <a:srgbClr val="123C3A"/>
                </a:solidFill>
                <a:latin typeface="Aptos"/>
              </a:rPr>
              <a:t>Odontólogo</a:t>
            </a:r>
            <a:r>
              <a:rPr sz="1260" b="1" dirty="0">
                <a:solidFill>
                  <a:srgbClr val="123C3A"/>
                </a:solidFill>
                <a:latin typeface="Aptos"/>
              </a:rPr>
              <a:t> dicta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798064"/>
            <a:ext cx="1360950" cy="369588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Ejemplo</a:t>
            </a:r>
            <a:r>
              <a:rPr dirty="0"/>
              <a:t>: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pieza</a:t>
            </a:r>
            <a:r>
              <a:rPr dirty="0"/>
              <a:t> 16 caries </a:t>
            </a:r>
            <a:r>
              <a:rPr dirty="0" err="1"/>
              <a:t>oclusal</a:t>
            </a:r>
            <a:endParaRPr dirty="0"/>
          </a:p>
        </p:txBody>
      </p:sp>
      <p:sp>
        <p:nvSpPr>
          <p:cNvPr id="13" name="Right Arrow 12"/>
          <p:cNvSpPr/>
          <p:nvPr/>
        </p:nvSpPr>
        <p:spPr>
          <a:xfrm>
            <a:off x="1920240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231136" y="1828800"/>
            <a:ext cx="347472" cy="347472"/>
          </a:xfrm>
          <a:prstGeom prst="roundRect">
            <a:avLst/>
          </a:prstGeom>
          <a:solidFill>
            <a:srgbClr val="F6BF26"/>
          </a:solidFill>
          <a:ln w="13335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7128" y="2267712"/>
            <a:ext cx="1444752" cy="1143000"/>
          </a:xfrm>
          <a:prstGeom prst="roundRect">
            <a:avLst/>
          </a:prstGeom>
          <a:solidFill>
            <a:srgbClr val="FFF6DA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68296" y="2450592"/>
            <a:ext cx="502920" cy="64008"/>
          </a:xfrm>
          <a:prstGeom prst="roundRect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96945" y="2256693"/>
            <a:ext cx="2221992" cy="193899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r>
              <a:rPr sz="1260" b="1" dirty="0" err="1">
                <a:solidFill>
                  <a:srgbClr val="123C3A"/>
                </a:solidFill>
                <a:latin typeface="Aptos"/>
              </a:rPr>
              <a:t>Micr</a:t>
            </a:r>
            <a:r>
              <a:rPr lang="es-PE" sz="1260" b="1" dirty="0" err="1">
                <a:solidFill>
                  <a:srgbClr val="123C3A"/>
                </a:solidFill>
                <a:latin typeface="Aptos"/>
              </a:rPr>
              <a:t>ó</a:t>
            </a:r>
            <a:r>
              <a:rPr sz="1260" b="1" dirty="0" err="1">
                <a:solidFill>
                  <a:srgbClr val="123C3A"/>
                </a:solidFill>
                <a:latin typeface="Aptos"/>
              </a:rPr>
              <a:t>fono</a:t>
            </a:r>
            <a:r>
              <a:rPr lang="es-PE" sz="1260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1260" b="1" dirty="0" err="1">
                <a:solidFill>
                  <a:srgbClr val="123C3A"/>
                </a:solidFill>
                <a:latin typeface="Aptos"/>
              </a:rPr>
              <a:t>navegador</a:t>
            </a:r>
            <a:endParaRPr sz="1260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86584" y="2798064"/>
            <a:ext cx="1064394" cy="531171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Permiso</a:t>
            </a:r>
            <a:r>
              <a:rPr dirty="0"/>
              <a:t> de audio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 +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Web Speech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584448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895344" y="1828800"/>
            <a:ext cx="347472" cy="347472"/>
          </a:xfrm>
          <a:prstGeom prst="roundRect">
            <a:avLst/>
          </a:prstGeom>
          <a:solidFill>
            <a:srgbClr val="F6BF26"/>
          </a:solidFill>
          <a:ln w="13335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31336" y="2267712"/>
            <a:ext cx="1444752" cy="1143000"/>
          </a:xfrm>
          <a:prstGeom prst="roundRect">
            <a:avLst/>
          </a:prstGeom>
          <a:solidFill>
            <a:srgbClr val="FFF6DA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032504" y="2450592"/>
            <a:ext cx="502920" cy="64008"/>
          </a:xfrm>
          <a:prstGeom prst="roundRect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92549" y="2286398"/>
            <a:ext cx="484632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 dirty="0" err="1">
                <a:solidFill>
                  <a:srgbClr val="123C3A"/>
                </a:solidFill>
                <a:latin typeface="Aptos"/>
              </a:rPr>
              <a:t>Annyang</a:t>
            </a:r>
            <a:endParaRPr sz="1260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50792" y="2798064"/>
            <a:ext cx="1272784" cy="369588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Convierte</a:t>
            </a:r>
            <a:r>
              <a:rPr dirty="0"/>
              <a:t> </a:t>
            </a:r>
            <a:r>
              <a:rPr dirty="0" err="1"/>
              <a:t>voz</a:t>
            </a:r>
            <a:r>
              <a:rPr dirty="0"/>
              <a:t> a </a:t>
            </a:r>
            <a:r>
              <a:rPr dirty="0" err="1"/>
              <a:t>texto</a:t>
            </a:r>
            <a:r>
              <a:rPr dirty="0"/>
              <a:t>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y </a:t>
            </a:r>
            <a:r>
              <a:rPr dirty="0" err="1"/>
              <a:t>dispara</a:t>
            </a:r>
            <a:r>
              <a:rPr dirty="0"/>
              <a:t> </a:t>
            </a:r>
            <a:r>
              <a:rPr dirty="0" err="1"/>
              <a:t>comandos</a:t>
            </a:r>
            <a:endParaRPr dirty="0"/>
          </a:p>
        </p:txBody>
      </p:sp>
      <p:sp>
        <p:nvSpPr>
          <p:cNvPr id="25" name="Right Arrow 24"/>
          <p:cNvSpPr/>
          <p:nvPr/>
        </p:nvSpPr>
        <p:spPr>
          <a:xfrm>
            <a:off x="5248656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559552" y="1828800"/>
            <a:ext cx="347472" cy="347472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95544" y="2267712"/>
            <a:ext cx="1444752" cy="1143000"/>
          </a:xfrm>
          <a:prstGeom prst="roundRect">
            <a:avLst/>
          </a:prstGeom>
          <a:solidFill>
            <a:srgbClr val="DCFBF3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696712" y="2450592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47016" y="2265837"/>
            <a:ext cx="484632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 dirty="0">
                <a:solidFill>
                  <a:srgbClr val="123C3A"/>
                </a:solidFill>
                <a:latin typeface="Aptos"/>
              </a:rPr>
              <a:t>Parser </a:t>
            </a:r>
            <a:r>
              <a:rPr sz="1260" b="1" dirty="0" err="1">
                <a:solidFill>
                  <a:srgbClr val="123C3A"/>
                </a:solidFill>
                <a:latin typeface="Aptos"/>
              </a:rPr>
              <a:t>Quiru</a:t>
            </a:r>
            <a:endParaRPr sz="1260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15000" y="2798064"/>
            <a:ext cx="905697" cy="369588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interpreta</a:t>
            </a:r>
            <a:r>
              <a:rPr dirty="0"/>
              <a:t>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pieza</a:t>
            </a:r>
            <a:r>
              <a:rPr dirty="0"/>
              <a:t>/</a:t>
            </a:r>
            <a:r>
              <a:rPr dirty="0" err="1"/>
              <a:t>hallazgo</a:t>
            </a:r>
            <a:endParaRPr dirty="0"/>
          </a:p>
        </p:txBody>
      </p:sp>
      <p:sp>
        <p:nvSpPr>
          <p:cNvPr id="31" name="Right Arrow 30"/>
          <p:cNvSpPr/>
          <p:nvPr/>
        </p:nvSpPr>
        <p:spPr>
          <a:xfrm>
            <a:off x="6912864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223760" y="1828800"/>
            <a:ext cx="347472" cy="347472"/>
          </a:xfrm>
          <a:prstGeom prst="roundRect">
            <a:avLst/>
          </a:prstGeom>
          <a:solidFill>
            <a:srgbClr val="376BC7"/>
          </a:solidFill>
          <a:ln w="13335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59752" y="2267712"/>
            <a:ext cx="1444752" cy="1143000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360920" y="2450592"/>
            <a:ext cx="502920" cy="64008"/>
          </a:xfrm>
          <a:prstGeom prst="roundRect">
            <a:avLst/>
          </a:prstGeom>
          <a:solidFill>
            <a:srgbClr val="376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78624" y="2266917"/>
            <a:ext cx="484632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 dirty="0">
                <a:solidFill>
                  <a:srgbClr val="123C3A"/>
                </a:solidFill>
                <a:latin typeface="Aptos"/>
              </a:rPr>
              <a:t>Google Cloud NLP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9208" y="2798064"/>
            <a:ext cx="1202252" cy="369588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corrige</a:t>
            </a:r>
            <a:r>
              <a:rPr dirty="0"/>
              <a:t>/</a:t>
            </a:r>
            <a:r>
              <a:rPr dirty="0" err="1"/>
              <a:t>normaliza</a:t>
            </a:r>
            <a:r>
              <a:rPr dirty="0"/>
              <a:t>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texto</a:t>
            </a:r>
            <a:r>
              <a:rPr dirty="0"/>
              <a:t> no </a:t>
            </a:r>
            <a:r>
              <a:rPr dirty="0" err="1"/>
              <a:t>reconocido</a:t>
            </a:r>
            <a:endParaRPr dirty="0"/>
          </a:p>
        </p:txBody>
      </p:sp>
      <p:sp>
        <p:nvSpPr>
          <p:cNvPr id="37" name="Right Arrow 36"/>
          <p:cNvSpPr/>
          <p:nvPr/>
        </p:nvSpPr>
        <p:spPr>
          <a:xfrm>
            <a:off x="8577072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887968" y="1828800"/>
            <a:ext cx="347472" cy="347472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23960" y="2267712"/>
            <a:ext cx="1444752" cy="1143000"/>
          </a:xfrm>
          <a:prstGeom prst="roundRect">
            <a:avLst/>
          </a:prstGeom>
          <a:solidFill>
            <a:srgbClr val="DCFBF3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025128" y="2450592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93124" y="2256693"/>
            <a:ext cx="484632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 dirty="0" err="1">
                <a:solidFill>
                  <a:srgbClr val="123C3A"/>
                </a:solidFill>
                <a:latin typeface="Aptos"/>
              </a:rPr>
              <a:t>Firestore</a:t>
            </a:r>
            <a:endParaRPr sz="1260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043416" y="2798064"/>
            <a:ext cx="1014701" cy="369588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guarda</a:t>
            </a:r>
            <a:r>
              <a:rPr dirty="0"/>
              <a:t> </a:t>
            </a:r>
            <a:r>
              <a:rPr dirty="0" err="1"/>
              <a:t>hallazgo</a:t>
            </a:r>
            <a:r>
              <a:rPr dirty="0"/>
              <a:t>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odontograma</a:t>
            </a:r>
            <a:endParaRPr dirty="0"/>
          </a:p>
        </p:txBody>
      </p:sp>
      <p:sp>
        <p:nvSpPr>
          <p:cNvPr id="43" name="Right Arrow 42"/>
          <p:cNvSpPr/>
          <p:nvPr/>
        </p:nvSpPr>
        <p:spPr>
          <a:xfrm>
            <a:off x="10241280" y="2743200"/>
            <a:ext cx="429768" cy="146304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552176" y="1828800"/>
            <a:ext cx="347472" cy="347472"/>
          </a:xfrm>
          <a:prstGeom prst="roundRect">
            <a:avLst/>
          </a:prstGeom>
          <a:solidFill>
            <a:srgbClr val="FF8D6B"/>
          </a:solidFill>
          <a:ln w="13335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88168" y="2267712"/>
            <a:ext cx="1444752" cy="114300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689336" y="2450592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674229" y="2275535"/>
            <a:ext cx="484632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 dirty="0">
                <a:solidFill>
                  <a:srgbClr val="123C3A"/>
                </a:solidFill>
                <a:latin typeface="Aptos"/>
              </a:rPr>
              <a:t>UI + PDF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07624" y="2798064"/>
            <a:ext cx="928139" cy="531171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odontograma</a:t>
            </a:r>
            <a:r>
              <a:rPr dirty="0"/>
              <a:t>,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resumen</a:t>
            </a:r>
            <a:r>
              <a:rPr dirty="0"/>
              <a:t>, plan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y </a:t>
            </a:r>
            <a:r>
              <a:rPr dirty="0" err="1"/>
              <a:t>reporte</a:t>
            </a:r>
            <a:endParaRPr dirty="0"/>
          </a:p>
        </p:txBody>
      </p:sp>
      <p:sp>
        <p:nvSpPr>
          <p:cNvPr id="49" name="Rounded Rectangle 48"/>
          <p:cNvSpPr/>
          <p:nvPr/>
        </p:nvSpPr>
        <p:spPr>
          <a:xfrm>
            <a:off x="914400" y="4800600"/>
            <a:ext cx="10287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115568" y="498348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737360" y="4928616"/>
            <a:ext cx="909031" cy="193899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 dirty="0">
                <a:solidFill>
                  <a:srgbClr val="123C3A"/>
                </a:solidFill>
                <a:latin typeface="Aptos"/>
              </a:rPr>
              <a:t>Punto clave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5834" y="5174685"/>
            <a:ext cx="6694140" cy="531171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Annyang</a:t>
            </a:r>
            <a:r>
              <a:rPr dirty="0"/>
              <a:t> </a:t>
            </a:r>
            <a:r>
              <a:rPr dirty="0" err="1"/>
              <a:t>vive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navegador</a:t>
            </a:r>
            <a:r>
              <a:rPr dirty="0"/>
              <a:t>: reduce </a:t>
            </a:r>
            <a:r>
              <a:rPr dirty="0" err="1"/>
              <a:t>fricci</a:t>
            </a:r>
            <a:r>
              <a:rPr lang="es-PE" dirty="0" err="1"/>
              <a:t>ó</a:t>
            </a:r>
            <a:r>
              <a:rPr dirty="0"/>
              <a:t>n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lang="es-PE" dirty="0"/>
              <a:t>Odontólogo</a:t>
            </a:r>
            <a:r>
              <a:rPr dirty="0"/>
              <a:t> dicta </a:t>
            </a:r>
            <a:r>
              <a:rPr dirty="0" err="1"/>
              <a:t>durante</a:t>
            </a:r>
            <a:r>
              <a:rPr dirty="0"/>
              <a:t> la </a:t>
            </a:r>
            <a:r>
              <a:rPr lang="es-PE" dirty="0"/>
              <a:t>atención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Google Cloud NLP no </a:t>
            </a:r>
            <a:r>
              <a:rPr dirty="0" err="1"/>
              <a:t>reemplaza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flujo</a:t>
            </a:r>
            <a:r>
              <a:rPr dirty="0"/>
              <a:t> </a:t>
            </a:r>
            <a:r>
              <a:rPr lang="es-PE" dirty="0"/>
              <a:t>clínico</a:t>
            </a:r>
            <a:r>
              <a:rPr dirty="0"/>
              <a:t>; act</a:t>
            </a:r>
            <a:r>
              <a:rPr lang="es-PE" dirty="0"/>
              <a:t>ú</a:t>
            </a:r>
            <a:r>
              <a:rPr dirty="0"/>
              <a:t>a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apoyo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correcci</a:t>
            </a:r>
            <a:r>
              <a:rPr lang="es-PE" dirty="0" err="1"/>
              <a:t>ó</a:t>
            </a:r>
            <a:r>
              <a:rPr dirty="0"/>
              <a:t>n o </a:t>
            </a:r>
            <a:r>
              <a:rPr lang="es-PE" dirty="0"/>
              <a:t>normalización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El </a:t>
            </a:r>
            <a:r>
              <a:rPr dirty="0" err="1"/>
              <a:t>resultado</a:t>
            </a:r>
            <a:r>
              <a:rPr dirty="0"/>
              <a:t> final se </a:t>
            </a:r>
            <a:r>
              <a:rPr dirty="0" err="1"/>
              <a:t>persiste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Firebase para </a:t>
            </a:r>
            <a:r>
              <a:rPr dirty="0" err="1"/>
              <a:t>disponibilidad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real y </a:t>
            </a:r>
            <a:r>
              <a:rPr dirty="0" err="1"/>
              <a:t>generaci</a:t>
            </a:r>
            <a:r>
              <a:rPr lang="es-PE" dirty="0" err="1"/>
              <a:t>ó</a:t>
            </a:r>
            <a:r>
              <a:rPr dirty="0"/>
              <a:t>n documental.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488168" y="3703320"/>
            <a:ext cx="1170432" cy="713232"/>
          </a:xfrm>
          <a:prstGeom prst="roundRect">
            <a:avLst/>
          </a:prstGeom>
          <a:solidFill>
            <a:srgbClr val="F0EBFF"/>
          </a:solidFill>
          <a:ln w="13335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30" b="1">
                <a:solidFill>
                  <a:srgbClr val="123C3A"/>
                </a:solidFill>
                <a:latin typeface="Aptos"/>
              </a:rPr>
              <a:t>8
Agente IA propone
plan de tratamiento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991088" y="3401568"/>
            <a:ext cx="0" cy="301752"/>
          </a:xfrm>
          <a:prstGeom prst="line">
            <a:avLst/>
          </a:prstGeom>
          <a:ln w="1524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68680" y="5806440"/>
            <a:ext cx="10469880" cy="457200"/>
          </a:xfrm>
          <a:prstGeom prst="roundRect">
            <a:avLst/>
          </a:prstGeom>
          <a:solidFill>
            <a:srgbClr val="F6FFFC"/>
          </a:solidFill>
          <a:ln w="13335">
            <a:solidFill>
              <a:srgbClr val="F6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32688" y="5870448"/>
            <a:ext cx="10287000" cy="292608"/>
          </a:xfrm>
          <a:prstGeom prst="roundRect">
            <a:avLst/>
          </a:prstGeom>
          <a:solidFill>
            <a:srgbClr val="F0EBFF"/>
          </a:solidFill>
          <a:ln w="13335">
            <a:solidFill>
              <a:srgbClr val="F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00" b="1" dirty="0" err="1">
                <a:solidFill>
                  <a:srgbClr val="123C3A"/>
                </a:solidFill>
                <a:latin typeface="Aptos"/>
              </a:rPr>
              <a:t>los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hallazgos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validados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alimentan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un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Agente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IA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que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sugiere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tratamientos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,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fases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y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prioridades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 para 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aprobaci</a:t>
            </a:r>
            <a:r>
              <a:rPr lang="es-PE" sz="800" b="1" dirty="0" err="1">
                <a:solidFill>
                  <a:srgbClr val="123C3A"/>
                </a:solidFill>
                <a:latin typeface="Aptos"/>
              </a:rPr>
              <a:t>ó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n cl</a:t>
            </a:r>
            <a:r>
              <a:rPr lang="es-PE" sz="800" b="1" dirty="0">
                <a:solidFill>
                  <a:srgbClr val="123C3A"/>
                </a:solidFill>
                <a:latin typeface="Aptos"/>
              </a:rPr>
              <a:t>í</a:t>
            </a:r>
            <a:r>
              <a:rPr sz="800" b="1" dirty="0" err="1">
                <a:solidFill>
                  <a:srgbClr val="123C3A"/>
                </a:solidFill>
                <a:latin typeface="Aptos"/>
              </a:rPr>
              <a:t>nica</a:t>
            </a:r>
            <a:r>
              <a:rPr sz="800" b="1" dirty="0">
                <a:solidFill>
                  <a:srgbClr val="123C3A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3636252" cy="44627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2900" b="1" dirty="0" err="1">
                <a:solidFill>
                  <a:srgbClr val="123C3A"/>
                </a:solidFill>
                <a:latin typeface="Aptos Display"/>
              </a:rPr>
              <a:t>Flujo</a:t>
            </a:r>
            <a:r>
              <a:rPr sz="2900" b="1" dirty="0">
                <a:solidFill>
                  <a:srgbClr val="123C3A"/>
                </a:solidFill>
                <a:latin typeface="Aptos Display"/>
              </a:rPr>
              <a:t> </a:t>
            </a:r>
            <a:r>
              <a:rPr lang="es-PE" sz="2900" b="1" dirty="0">
                <a:solidFill>
                  <a:srgbClr val="123C3A"/>
                </a:solidFill>
                <a:latin typeface="Aptos Display"/>
              </a:rPr>
              <a:t>clínico</a:t>
            </a:r>
            <a:r>
              <a:rPr sz="2900" b="1" dirty="0">
                <a:solidFill>
                  <a:srgbClr val="123C3A"/>
                </a:solidFill>
                <a:latin typeface="Aptos Display"/>
              </a:rPr>
              <a:t> y de </a:t>
            </a:r>
            <a:r>
              <a:rPr sz="2900" b="1" dirty="0" err="1">
                <a:solidFill>
                  <a:srgbClr val="123C3A"/>
                </a:solidFill>
                <a:latin typeface="Aptos Display"/>
              </a:rPr>
              <a:t>datos</a:t>
            </a:r>
            <a:endParaRPr sz="2900" b="1" dirty="0">
              <a:solidFill>
                <a:srgbClr val="123C3A"/>
              </a:solidFill>
              <a:latin typeface="Aptos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2505879" cy="187744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20" b="0" dirty="0">
                <a:solidFill>
                  <a:srgbClr val="51706D"/>
                </a:solidFill>
                <a:latin typeface="Aptos"/>
              </a:rPr>
              <a:t>De la </a:t>
            </a:r>
            <a:r>
              <a:rPr lang="es-PE" sz="1220" b="0" dirty="0">
                <a:solidFill>
                  <a:srgbClr val="51706D"/>
                </a:solidFill>
                <a:latin typeface="Aptos"/>
              </a:rPr>
              <a:t>atención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 al </a:t>
            </a:r>
            <a:r>
              <a:rPr sz="1220" b="0" dirty="0" err="1">
                <a:solidFill>
                  <a:srgbClr val="51706D"/>
                </a:solidFill>
                <a:latin typeface="Aptos"/>
              </a:rPr>
              <a:t>documento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 </a:t>
            </a:r>
            <a:r>
              <a:rPr lang="es-PE" sz="1220" b="0" dirty="0">
                <a:solidFill>
                  <a:srgbClr val="51706D"/>
                </a:solidFill>
                <a:latin typeface="Aptos"/>
              </a:rPr>
              <a:t>clínico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969817" cy="12926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lang="es-PE" sz="840" b="0" dirty="0" err="1">
                <a:solidFill>
                  <a:srgbClr val="51706D"/>
                </a:solidFill>
                <a:latin typeface="Aptos"/>
              </a:rPr>
              <a:t>Quiru</a:t>
            </a:r>
            <a:r>
              <a:rPr lang="es-PE" sz="840" b="0" dirty="0">
                <a:solidFill>
                  <a:srgbClr val="51706D"/>
                </a:solidFill>
                <a:latin typeface="Aptos"/>
              </a:rPr>
              <a:t> | Arquitectura</a:t>
            </a:r>
            <a:endParaRPr sz="840" b="0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1572768"/>
            <a:ext cx="1645920" cy="411480"/>
          </a:xfrm>
          <a:prstGeom prst="roundRect">
            <a:avLst/>
          </a:prstGeom>
          <a:solidFill>
            <a:srgbClr val="FF8D6B"/>
          </a:solidFill>
          <a:ln w="13335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Cliente / Paciente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80360"/>
            <a:ext cx="1645920" cy="411480"/>
          </a:xfrm>
          <a:prstGeom prst="roundRect">
            <a:avLst/>
          </a:prstGeom>
          <a:solidFill>
            <a:srgbClr val="22C7A6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s-PE" sz="1050" b="1" dirty="0">
                <a:solidFill>
                  <a:srgbClr val="FFFFFF"/>
                </a:solidFill>
                <a:latin typeface="Aptos"/>
              </a:rPr>
              <a:t>Odontólogo</a:t>
            </a:r>
            <a:endParaRPr sz="10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4187952"/>
            <a:ext cx="1645920" cy="411480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quiru_app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504688"/>
            <a:ext cx="1645920" cy="411480"/>
          </a:xfrm>
          <a:prstGeom prst="roundRect">
            <a:avLst/>
          </a:prstGeom>
          <a:solidFill>
            <a:srgbClr val="376BC7"/>
          </a:solidFill>
          <a:ln w="13335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Firebase / Cloud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240280"/>
            <a:ext cx="10607040" cy="0"/>
          </a:xfrm>
          <a:prstGeom prst="line">
            <a:avLst/>
          </a:prstGeom>
          <a:ln w="1143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" y="3547872"/>
            <a:ext cx="10607040" cy="0"/>
          </a:xfrm>
          <a:prstGeom prst="line">
            <a:avLst/>
          </a:prstGeom>
          <a:ln w="1143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" y="4864608"/>
            <a:ext cx="10607040" cy="0"/>
          </a:xfrm>
          <a:prstGeom prst="line">
            <a:avLst/>
          </a:prstGeom>
          <a:ln w="1143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" y="6172200"/>
            <a:ext cx="10607040" cy="0"/>
          </a:xfrm>
          <a:prstGeom prst="line">
            <a:avLst/>
          </a:prstGeom>
          <a:ln w="11430">
            <a:solidFill>
              <a:srgbClr val="B7D7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697480" y="1536192"/>
            <a:ext cx="1170432" cy="56692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Solicita cita
o llega a consulta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2834640"/>
            <a:ext cx="1170432" cy="56692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Registra / busca
paciente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4133087"/>
            <a:ext cx="1170432" cy="56692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s-PE" sz="869" b="1" dirty="0">
                <a:solidFill>
                  <a:srgbClr val="123C3A"/>
                </a:solidFill>
                <a:latin typeface="Aptos"/>
              </a:rPr>
              <a:t>Admisión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
y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antecedentes</a:t>
            </a:r>
            <a:endParaRPr sz="869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09360" y="2834640"/>
            <a:ext cx="1170432" cy="566928"/>
          </a:xfrm>
          <a:prstGeom prst="roundRect">
            <a:avLst/>
          </a:prstGeom>
          <a:solidFill>
            <a:srgbClr val="FFF6DA"/>
          </a:solidFill>
          <a:ln w="13335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69" b="1">
                <a:solidFill>
                  <a:srgbClr val="123C3A"/>
                </a:solidFill>
                <a:latin typeface="Aptos"/>
              </a:rPr>
              <a:t>Dictado de voz
+ odontograma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133087"/>
            <a:ext cx="1170432" cy="56692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69" b="1" dirty="0">
                <a:solidFill>
                  <a:srgbClr val="123C3A"/>
                </a:solidFill>
                <a:latin typeface="Aptos"/>
              </a:rPr>
              <a:t>Plan /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cotizaci</a:t>
            </a:r>
            <a:r>
              <a:rPr lang="es-PE" sz="869" b="1" dirty="0" err="1">
                <a:solidFill>
                  <a:srgbClr val="123C3A"/>
                </a:solidFill>
                <a:latin typeface="Aptos"/>
              </a:rPr>
              <a:t>ó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n
y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consentimientos</a:t>
            </a:r>
            <a:endParaRPr sz="869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89720" y="4133087"/>
            <a:ext cx="1170432" cy="56692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FF8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69" b="1" dirty="0">
                <a:solidFill>
                  <a:srgbClr val="123C3A"/>
                </a:solidFill>
                <a:latin typeface="Aptos"/>
              </a:rPr>
              <a:t>PDF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historia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 cl</a:t>
            </a:r>
            <a:r>
              <a:rPr lang="es-PE" sz="869" b="1" dirty="0">
                <a:solidFill>
                  <a:srgbClr val="123C3A"/>
                </a:solidFill>
                <a:latin typeface="Aptos"/>
              </a:rPr>
              <a:t>í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nica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
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reportes</a:t>
            </a:r>
            <a:endParaRPr sz="869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788920" y="5449824"/>
            <a:ext cx="822960" cy="38404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Auth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5349240"/>
            <a:ext cx="1920240" cy="585216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50" b="1">
                <a:solidFill>
                  <a:srgbClr val="123C3A"/>
                </a:solidFill>
                <a:latin typeface="Aptos"/>
              </a:rPr>
              <a:t>Firestore
paciente/odontograma/citas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349240"/>
            <a:ext cx="1371600" cy="585216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50" b="1" dirty="0">
                <a:solidFill>
                  <a:srgbClr val="123C3A"/>
                </a:solidFill>
                <a:latin typeface="Aptos"/>
              </a:rPr>
              <a:t>Storage
</a:t>
            </a:r>
            <a:r>
              <a:rPr sz="850" b="1" dirty="0" err="1">
                <a:solidFill>
                  <a:srgbClr val="123C3A"/>
                </a:solidFill>
                <a:latin typeface="Aptos"/>
              </a:rPr>
              <a:t>archivos</a:t>
            </a:r>
            <a:r>
              <a:rPr sz="850" b="1" dirty="0">
                <a:solidFill>
                  <a:srgbClr val="123C3A"/>
                </a:solidFill>
                <a:latin typeface="Aptos"/>
              </a:rPr>
              <a:t> </a:t>
            </a:r>
            <a:r>
              <a:rPr lang="es-PE" sz="850" b="1" dirty="0">
                <a:solidFill>
                  <a:srgbClr val="123C3A"/>
                </a:solidFill>
                <a:latin typeface="Aptos"/>
              </a:rPr>
              <a:t>clínico</a:t>
            </a:r>
            <a:r>
              <a:rPr sz="850" b="1" dirty="0">
                <a:solidFill>
                  <a:srgbClr val="123C3A"/>
                </a:solidFill>
                <a:latin typeface="Aptos"/>
              </a:rPr>
              <a:t>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5349240"/>
            <a:ext cx="1417320" cy="585216"/>
          </a:xfrm>
          <a:prstGeom prst="roundRect">
            <a:avLst/>
          </a:prstGeom>
          <a:solidFill>
            <a:srgbClr val="E2EEFF"/>
          </a:solidFill>
          <a:ln w="13335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50" b="1" dirty="0">
                <a:solidFill>
                  <a:srgbClr val="123C3A"/>
                </a:solidFill>
                <a:latin typeface="Aptos"/>
              </a:rPr>
              <a:t>Cloud NLP
</a:t>
            </a:r>
            <a:r>
              <a:rPr sz="850" b="1" dirty="0" err="1">
                <a:solidFill>
                  <a:srgbClr val="123C3A"/>
                </a:solidFill>
                <a:latin typeface="Aptos"/>
              </a:rPr>
              <a:t>correcci</a:t>
            </a:r>
            <a:r>
              <a:rPr lang="es-PE" sz="850" b="1" dirty="0" err="1">
                <a:solidFill>
                  <a:srgbClr val="123C3A"/>
                </a:solidFill>
                <a:latin typeface="Aptos"/>
              </a:rPr>
              <a:t>ó</a:t>
            </a:r>
            <a:r>
              <a:rPr sz="850" b="1" dirty="0">
                <a:solidFill>
                  <a:srgbClr val="123C3A"/>
                </a:solidFill>
                <a:latin typeface="Aptos"/>
              </a:rPr>
              <a:t>n </a:t>
            </a:r>
            <a:r>
              <a:rPr sz="850" b="1" dirty="0" err="1">
                <a:solidFill>
                  <a:srgbClr val="123C3A"/>
                </a:solidFill>
                <a:latin typeface="Aptos"/>
              </a:rPr>
              <a:t>texto</a:t>
            </a:r>
            <a:endParaRPr sz="850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966960" y="5449824"/>
            <a:ext cx="868680" cy="38404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80" b="1">
                <a:solidFill>
                  <a:srgbClr val="123C3A"/>
                </a:solidFill>
                <a:latin typeface="Aptos"/>
              </a:rPr>
              <a:t>Hosting
SPA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86791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ight Arrow 27"/>
          <p:cNvSpPr/>
          <p:nvPr/>
        </p:nvSpPr>
        <p:spPr>
          <a:xfrm>
            <a:off x="4809744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ght Arrow 28"/>
          <p:cNvSpPr/>
          <p:nvPr/>
        </p:nvSpPr>
        <p:spPr>
          <a:xfrm>
            <a:off x="619963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725119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8805672" y="4407408"/>
            <a:ext cx="347472" cy="118872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4407408" y="3401568"/>
            <a:ext cx="576072" cy="768095"/>
          </a:xfrm>
          <a:prstGeom prst="line">
            <a:avLst/>
          </a:prstGeom>
          <a:ln w="1524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903720" y="3401568"/>
            <a:ext cx="731520" cy="768095"/>
          </a:xfrm>
          <a:prstGeom prst="line">
            <a:avLst/>
          </a:prstGeom>
          <a:ln w="15240">
            <a:solidFill>
              <a:srgbClr val="1595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663440" y="4709160"/>
            <a:ext cx="0" cy="640080"/>
          </a:xfrm>
          <a:prstGeom prst="line">
            <a:avLst/>
          </a:prstGeom>
          <a:ln w="1524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903720" y="4709160"/>
            <a:ext cx="0" cy="640080"/>
          </a:xfrm>
          <a:prstGeom prst="line">
            <a:avLst/>
          </a:prstGeom>
          <a:ln w="1524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823960" y="4709160"/>
            <a:ext cx="0" cy="640080"/>
          </a:xfrm>
          <a:prstGeom prst="line">
            <a:avLst/>
          </a:prstGeom>
          <a:ln w="1524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784080" y="4709160"/>
            <a:ext cx="0" cy="640080"/>
          </a:xfrm>
          <a:prstGeom prst="line">
            <a:avLst/>
          </a:prstGeom>
          <a:ln w="1524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651760" y="6236208"/>
            <a:ext cx="81381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852928" y="6419088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0" y="6364224"/>
            <a:ext cx="7178040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Lectura ejecutiva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6489457"/>
            <a:ext cx="7708842" cy="369588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Quiru</a:t>
            </a:r>
            <a:r>
              <a:rPr dirty="0"/>
              <a:t> </a:t>
            </a:r>
            <a:r>
              <a:rPr dirty="0" err="1"/>
              <a:t>conecta</a:t>
            </a:r>
            <a:r>
              <a:rPr dirty="0"/>
              <a:t> </a:t>
            </a:r>
            <a:r>
              <a:rPr dirty="0" err="1"/>
              <a:t>experiencia</a:t>
            </a:r>
            <a:r>
              <a:rPr dirty="0"/>
              <a:t> </a:t>
            </a:r>
            <a:r>
              <a:rPr lang="es-PE" dirty="0"/>
              <a:t>clínica </a:t>
            </a:r>
            <a:r>
              <a:rPr dirty="0"/>
              <a:t>y </a:t>
            </a:r>
            <a:r>
              <a:rPr dirty="0" err="1"/>
              <a:t>persistencia</a:t>
            </a:r>
            <a:r>
              <a:rPr dirty="0"/>
              <a:t> cloud: </a:t>
            </a:r>
            <a:r>
              <a:rPr dirty="0" err="1"/>
              <a:t>el</a:t>
            </a:r>
            <a:r>
              <a:rPr dirty="0"/>
              <a:t> </a:t>
            </a:r>
            <a:r>
              <a:rPr lang="es-PE" dirty="0"/>
              <a:t>Odontólogo</a:t>
            </a:r>
            <a:r>
              <a:rPr dirty="0"/>
              <a:t> </a:t>
            </a:r>
            <a:r>
              <a:rPr dirty="0" err="1"/>
              <a:t>trabaja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interfaz</a:t>
            </a:r>
            <a:r>
              <a:rPr dirty="0"/>
              <a:t>, </a:t>
            </a:r>
            <a:r>
              <a:rPr dirty="0" err="1"/>
              <a:t>mientras</a:t>
            </a:r>
            <a:r>
              <a:rPr dirty="0"/>
              <a:t> Firebase </a:t>
            </a:r>
            <a:r>
              <a:rPr dirty="0" err="1"/>
              <a:t>consolida</a:t>
            </a:r>
            <a:r>
              <a:rPr dirty="0"/>
              <a:t> </a:t>
            </a:r>
            <a:r>
              <a:rPr dirty="0" err="1"/>
              <a:t>identidad</a:t>
            </a:r>
            <a:r>
              <a:rPr dirty="0"/>
              <a:t>,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datos</a:t>
            </a:r>
            <a:r>
              <a:rPr dirty="0"/>
              <a:t>, </a:t>
            </a:r>
            <a:r>
              <a:rPr dirty="0" err="1"/>
              <a:t>archivos</a:t>
            </a:r>
            <a:r>
              <a:rPr dirty="0"/>
              <a:t> y </a:t>
            </a:r>
            <a:r>
              <a:rPr dirty="0" err="1"/>
              <a:t>despliegue</a:t>
            </a:r>
            <a:r>
              <a:rPr dirty="0"/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01483" y="2761489"/>
            <a:ext cx="1170432" cy="566928"/>
          </a:xfrm>
          <a:prstGeom prst="roundRect">
            <a:avLst/>
          </a:prstGeom>
          <a:solidFill>
            <a:srgbClr val="F0EBFF"/>
          </a:solidFill>
          <a:ln w="13335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00" b="1">
                <a:solidFill>
                  <a:srgbClr val="123C3A"/>
                </a:solidFill>
                <a:latin typeface="Aptos"/>
              </a:rPr>
              <a:t>Agente IA
sugiere plan
(propuesto)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479792" y="3401568"/>
            <a:ext cx="338328" cy="731519"/>
          </a:xfrm>
          <a:prstGeom prst="line">
            <a:avLst/>
          </a:prstGeom>
          <a:ln w="1651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903720" y="3218688"/>
            <a:ext cx="365760" cy="182880"/>
          </a:xfrm>
          <a:prstGeom prst="line">
            <a:avLst/>
          </a:prstGeom>
          <a:ln w="1651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254315" y="3593592"/>
            <a:ext cx="1264769" cy="116955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760" b="0" dirty="0">
                <a:solidFill>
                  <a:srgbClr val="51706D"/>
                </a:solidFill>
                <a:latin typeface="Aptos"/>
              </a:rPr>
              <a:t>IA </a:t>
            </a:r>
            <a:r>
              <a:rPr sz="760" b="0" dirty="0" err="1">
                <a:solidFill>
                  <a:srgbClr val="51706D"/>
                </a:solidFill>
                <a:latin typeface="Aptos"/>
              </a:rPr>
              <a:t>asiste</a:t>
            </a:r>
            <a:r>
              <a:rPr sz="760" b="0" dirty="0">
                <a:solidFill>
                  <a:srgbClr val="51706D"/>
                </a:solidFill>
                <a:latin typeface="Aptos"/>
              </a:rPr>
              <a:t>, </a:t>
            </a:r>
            <a:r>
              <a:rPr lang="es-PE" sz="760" b="0" dirty="0">
                <a:solidFill>
                  <a:srgbClr val="51706D"/>
                </a:solidFill>
                <a:latin typeface="Aptos"/>
              </a:rPr>
              <a:t>Odontólogo</a:t>
            </a:r>
            <a:r>
              <a:rPr sz="760" b="0" dirty="0">
                <a:solidFill>
                  <a:srgbClr val="51706D"/>
                </a:solidFill>
                <a:latin typeface="Aptos"/>
              </a:rPr>
              <a:t> decide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Responsabilidades por componente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9326880" cy="292608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20" b="0">
                <a:solidFill>
                  <a:srgbClr val="51706D"/>
                </a:solidFill>
                <a:latin typeface="Aptos"/>
              </a:rPr>
              <a:t>Qu? hace cada pieza dentro de la arquitectura.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969817" cy="12926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lang="es-PE" sz="840" b="0" dirty="0" err="1">
                <a:solidFill>
                  <a:srgbClr val="51706D"/>
                </a:solidFill>
                <a:latin typeface="Aptos"/>
              </a:rPr>
              <a:t>Quiru</a:t>
            </a:r>
            <a:r>
              <a:rPr lang="es-PE" sz="840" b="0" dirty="0">
                <a:solidFill>
                  <a:srgbClr val="51706D"/>
                </a:solidFill>
                <a:latin typeface="Aptos"/>
              </a:rPr>
              <a:t> | Arquitectura</a:t>
            </a:r>
            <a:endParaRPr sz="840" b="0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2971800" cy="155448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2688" y="1783080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728216"/>
            <a:ext cx="2011680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Cliente / Paciente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130552"/>
            <a:ext cx="1652697" cy="531171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Entrega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personales</a:t>
            </a:r>
            <a:endParaRPr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Agenda o </a:t>
            </a:r>
            <a:r>
              <a:rPr dirty="0" err="1"/>
              <a:t>confirma</a:t>
            </a:r>
            <a:r>
              <a:rPr dirty="0"/>
              <a:t> </a:t>
            </a:r>
            <a:r>
              <a:rPr lang="es-PE" dirty="0"/>
              <a:t>atención</a:t>
            </a:r>
            <a:endParaRPr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Firma</a:t>
            </a:r>
            <a:r>
              <a:rPr dirty="0"/>
              <a:t>/</a:t>
            </a:r>
            <a:r>
              <a:rPr dirty="0" err="1"/>
              <a:t>adjunta</a:t>
            </a:r>
            <a:r>
              <a:rPr dirty="0"/>
              <a:t> </a:t>
            </a:r>
            <a:r>
              <a:rPr dirty="0" err="1"/>
              <a:t>documentos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2971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90288" y="178308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1728216"/>
            <a:ext cx="915764" cy="193899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lang="es-PE" sz="1260" b="1" dirty="0">
                <a:solidFill>
                  <a:srgbClr val="123C3A"/>
                </a:solidFill>
                <a:latin typeface="Aptos"/>
              </a:rPr>
              <a:t>Odontólogo</a:t>
            </a:r>
            <a:endParaRPr sz="1260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08576" y="2130552"/>
            <a:ext cx="2551176" cy="932688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Gestiona pacientes y citas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Dicta hallazgos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Genera plan, cotizaci?n y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2971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47888" y="1783080"/>
            <a:ext cx="502920" cy="64008"/>
          </a:xfrm>
          <a:prstGeom prst="roundRect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0" y="1728216"/>
            <a:ext cx="2011680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quiru_app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130552"/>
            <a:ext cx="1790555" cy="531171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Interfaz</a:t>
            </a:r>
            <a:r>
              <a:rPr dirty="0"/>
              <a:t> Vue SPA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Orquesta </a:t>
            </a:r>
            <a:r>
              <a:rPr dirty="0" err="1"/>
              <a:t>flujos</a:t>
            </a:r>
            <a:r>
              <a:rPr dirty="0"/>
              <a:t> </a:t>
            </a:r>
            <a:r>
              <a:rPr lang="es-PE" dirty="0"/>
              <a:t>clínico</a:t>
            </a:r>
            <a:r>
              <a:rPr dirty="0"/>
              <a:t>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Ejecuta</a:t>
            </a:r>
            <a:r>
              <a:rPr dirty="0"/>
              <a:t> l</a:t>
            </a:r>
            <a:r>
              <a:rPr lang="es-PE" dirty="0" err="1"/>
              <a:t>ó</a:t>
            </a:r>
            <a:r>
              <a:rPr dirty="0" err="1"/>
              <a:t>gica</a:t>
            </a:r>
            <a:r>
              <a:rPr dirty="0"/>
              <a:t> de </a:t>
            </a:r>
            <a:r>
              <a:rPr dirty="0" err="1"/>
              <a:t>presentaci</a:t>
            </a:r>
            <a:r>
              <a:rPr lang="es-PE" dirty="0" err="1"/>
              <a:t>ó</a:t>
            </a:r>
            <a:r>
              <a:rPr dirty="0"/>
              <a:t>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2971800" cy="1554480"/>
          </a:xfrm>
          <a:prstGeom prst="roundRect">
            <a:avLst/>
          </a:prstGeom>
          <a:solidFill>
            <a:srgbClr val="FFF6DA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32688" y="4069080"/>
            <a:ext cx="502920" cy="64008"/>
          </a:xfrm>
          <a:prstGeom prst="roundRect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2011680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Annyang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416552"/>
            <a:ext cx="2551176" cy="932688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Reconocimiento de voz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Eventos de comandos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Corre en navegador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886200"/>
            <a:ext cx="2971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90288" y="406908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80" y="4014215"/>
            <a:ext cx="2011680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Firebase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416552"/>
            <a:ext cx="2551176" cy="932688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Auth, Firestore, Storage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Hosting de la SPA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Sincronizaci?n en tiempo real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886200"/>
            <a:ext cx="2971800" cy="1554480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47888" y="4069080"/>
            <a:ext cx="502920" cy="64008"/>
          </a:xfrm>
          <a:prstGeom prst="roundRect">
            <a:avLst/>
          </a:prstGeom>
          <a:solidFill>
            <a:srgbClr val="376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0" y="4014215"/>
            <a:ext cx="2011680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Google Cloud NLP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4416552"/>
            <a:ext cx="1500411" cy="531171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Correcci?n</a:t>
            </a:r>
            <a:r>
              <a:rPr dirty="0"/>
              <a:t> de </a:t>
            </a:r>
            <a:r>
              <a:rPr dirty="0" err="1"/>
              <a:t>texto</a:t>
            </a:r>
            <a:endParaRPr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lang="es-PE" dirty="0"/>
              <a:t>normalización</a:t>
            </a:r>
            <a:r>
              <a:rPr dirty="0"/>
              <a:t> </a:t>
            </a:r>
            <a:r>
              <a:rPr dirty="0" err="1"/>
              <a:t>sem?ntica</a:t>
            </a:r>
            <a:endParaRPr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Apoyo</a:t>
            </a:r>
            <a:r>
              <a:rPr dirty="0"/>
              <a:t> ML al </a:t>
            </a:r>
            <a:r>
              <a:rPr dirty="0" err="1"/>
              <a:t>dictado</a:t>
            </a:r>
            <a:endParaRPr dirty="0"/>
          </a:p>
        </p:txBody>
      </p:sp>
      <p:sp>
        <p:nvSpPr>
          <p:cNvPr id="32" name="Rounded Rectangle 31"/>
          <p:cNvSpPr/>
          <p:nvPr/>
        </p:nvSpPr>
        <p:spPr>
          <a:xfrm>
            <a:off x="4590288" y="3255264"/>
            <a:ext cx="2743200" cy="438912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Orquestaci?n
de experiencia cl?nica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96512" y="3127248"/>
            <a:ext cx="3730752" cy="667512"/>
          </a:xfrm>
          <a:prstGeom prst="roundRect">
            <a:avLst/>
          </a:prstGeom>
          <a:solidFill>
            <a:srgbClr val="F6FFFC"/>
          </a:solidFill>
          <a:ln w="13335">
            <a:solidFill>
              <a:srgbClr val="F6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224528" y="3182112"/>
            <a:ext cx="3456432" cy="347472"/>
          </a:xfrm>
          <a:prstGeom prst="roundRect">
            <a:avLst/>
          </a:prstGeom>
          <a:solidFill>
            <a:srgbClr val="6E56CF"/>
          </a:solidFill>
          <a:ln w="13335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919" b="1" dirty="0" err="1">
                <a:solidFill>
                  <a:srgbClr val="FFFFFF"/>
                </a:solidFill>
                <a:latin typeface="Aptos"/>
              </a:rPr>
              <a:t>Agente</a:t>
            </a:r>
            <a:r>
              <a:rPr sz="919" b="1" dirty="0">
                <a:solidFill>
                  <a:srgbClr val="FFFFFF"/>
                </a:solidFill>
                <a:latin typeface="Aptos"/>
              </a:rPr>
              <a:t> IA de plan de </a:t>
            </a:r>
            <a:r>
              <a:rPr sz="919" b="1" dirty="0" err="1">
                <a:solidFill>
                  <a:srgbClr val="FFFFFF"/>
                </a:solidFill>
                <a:latin typeface="Aptos"/>
              </a:rPr>
              <a:t>tratamiento</a:t>
            </a:r>
            <a:endParaRPr sz="919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57619" y="3566160"/>
            <a:ext cx="4190250" cy="113877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740" b="0" dirty="0">
                <a:solidFill>
                  <a:srgbClr val="51706D"/>
                </a:solidFill>
                <a:latin typeface="Aptos"/>
              </a:rPr>
              <a:t>Usa </a:t>
            </a:r>
            <a:r>
              <a:rPr sz="740" b="0" dirty="0" err="1">
                <a:solidFill>
                  <a:srgbClr val="51706D"/>
                </a:solidFill>
                <a:latin typeface="Aptos"/>
              </a:rPr>
              <a:t>hallazgos</a:t>
            </a:r>
            <a:r>
              <a:rPr sz="740" b="0" dirty="0">
                <a:solidFill>
                  <a:srgbClr val="51706D"/>
                </a:solidFill>
                <a:latin typeface="Aptos"/>
              </a:rPr>
              <a:t>, </a:t>
            </a:r>
            <a:r>
              <a:rPr lang="es-PE" sz="740" b="0" dirty="0">
                <a:solidFill>
                  <a:srgbClr val="51706D"/>
                </a:solidFill>
                <a:latin typeface="Aptos"/>
              </a:rPr>
              <a:t>Admisión</a:t>
            </a:r>
            <a:r>
              <a:rPr sz="740" b="0" dirty="0">
                <a:solidFill>
                  <a:srgbClr val="51706D"/>
                </a:solidFill>
                <a:latin typeface="Aptos"/>
              </a:rPr>
              <a:t>, CIE10, </a:t>
            </a:r>
            <a:r>
              <a:rPr sz="740" b="0" dirty="0" err="1">
                <a:solidFill>
                  <a:srgbClr val="51706D"/>
                </a:solidFill>
                <a:latin typeface="Aptos"/>
              </a:rPr>
              <a:t>precios</a:t>
            </a:r>
            <a:r>
              <a:rPr sz="740" b="0" dirty="0">
                <a:solidFill>
                  <a:srgbClr val="51706D"/>
                </a:solidFill>
                <a:latin typeface="Aptos"/>
              </a:rPr>
              <a:t> y </a:t>
            </a:r>
            <a:r>
              <a:rPr sz="740" b="0" dirty="0" err="1">
                <a:solidFill>
                  <a:srgbClr val="51706D"/>
                </a:solidFill>
                <a:latin typeface="Aptos"/>
              </a:rPr>
              <a:t>tratamientos</a:t>
            </a:r>
            <a:r>
              <a:rPr sz="740" b="0" dirty="0">
                <a:solidFill>
                  <a:srgbClr val="51706D"/>
                </a:solidFill>
                <a:latin typeface="Aptos"/>
              </a:rPr>
              <a:t> </a:t>
            </a:r>
            <a:r>
              <a:rPr sz="740" b="0" dirty="0" err="1">
                <a:solidFill>
                  <a:srgbClr val="51706D"/>
                </a:solidFill>
                <a:latin typeface="Aptos"/>
              </a:rPr>
              <a:t>previos</a:t>
            </a:r>
            <a:r>
              <a:rPr sz="740" b="0" dirty="0">
                <a:solidFill>
                  <a:srgbClr val="51706D"/>
                </a:solidFill>
                <a:latin typeface="Aptos"/>
              </a:rPr>
              <a:t> para </a:t>
            </a:r>
            <a:r>
              <a:rPr sz="740" b="0" dirty="0" err="1">
                <a:solidFill>
                  <a:srgbClr val="51706D"/>
                </a:solidFill>
                <a:latin typeface="Aptos"/>
              </a:rPr>
              <a:t>generar</a:t>
            </a:r>
            <a:r>
              <a:rPr sz="740" b="0" dirty="0">
                <a:solidFill>
                  <a:srgbClr val="51706D"/>
                </a:solidFill>
                <a:latin typeface="Aptos"/>
              </a:rPr>
              <a:t> </a:t>
            </a:r>
            <a:r>
              <a:rPr sz="740" b="0" dirty="0" err="1">
                <a:solidFill>
                  <a:srgbClr val="51706D"/>
                </a:solidFill>
                <a:latin typeface="Aptos"/>
              </a:rPr>
              <a:t>una</a:t>
            </a:r>
            <a:r>
              <a:rPr sz="740" b="0" dirty="0">
                <a:solidFill>
                  <a:srgbClr val="51706D"/>
                </a:solidFill>
                <a:latin typeface="Aptos"/>
              </a:rPr>
              <a:t> </a:t>
            </a:r>
            <a:r>
              <a:rPr sz="740" b="0" dirty="0" err="1">
                <a:solidFill>
                  <a:srgbClr val="51706D"/>
                </a:solidFill>
                <a:latin typeface="Aptos"/>
              </a:rPr>
              <a:t>propuesta</a:t>
            </a:r>
            <a:r>
              <a:rPr sz="740" b="0" dirty="0">
                <a:solidFill>
                  <a:srgbClr val="51706D"/>
                </a:solidFill>
                <a:latin typeface="Aptos"/>
              </a:rPr>
              <a:t> revisable.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5404941" cy="44627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2900" b="1" dirty="0">
                <a:solidFill>
                  <a:srgbClr val="123C3A"/>
                </a:solidFill>
                <a:latin typeface="Aptos Display"/>
              </a:rPr>
              <a:t>Per</a:t>
            </a:r>
            <a:r>
              <a:rPr lang="es-PE" sz="2900" b="1" dirty="0">
                <a:solidFill>
                  <a:srgbClr val="123C3A"/>
                </a:solidFill>
                <a:latin typeface="Aptos Display"/>
              </a:rPr>
              <a:t>í</a:t>
            </a:r>
            <a:r>
              <a:rPr sz="2900" b="1" dirty="0">
                <a:solidFill>
                  <a:srgbClr val="123C3A"/>
                </a:solidFill>
                <a:latin typeface="Aptos Display"/>
              </a:rPr>
              <a:t>metro de </a:t>
            </a:r>
            <a:r>
              <a:rPr sz="2900" b="1" dirty="0" err="1">
                <a:solidFill>
                  <a:srgbClr val="123C3A"/>
                </a:solidFill>
                <a:latin typeface="Aptos Display"/>
              </a:rPr>
              <a:t>seguridad</a:t>
            </a:r>
            <a:r>
              <a:rPr sz="2900" b="1" dirty="0">
                <a:solidFill>
                  <a:srgbClr val="123C3A"/>
                </a:solidFill>
                <a:latin typeface="Aptos Display"/>
              </a:rPr>
              <a:t> y </a:t>
            </a:r>
            <a:r>
              <a:rPr sz="2900" b="1" dirty="0" err="1">
                <a:solidFill>
                  <a:srgbClr val="123C3A"/>
                </a:solidFill>
                <a:latin typeface="Aptos Display"/>
              </a:rPr>
              <a:t>gobierno</a:t>
            </a:r>
            <a:endParaRPr sz="2900" b="1" dirty="0">
              <a:solidFill>
                <a:srgbClr val="123C3A"/>
              </a:solidFill>
              <a:latin typeface="Aptos Display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859536"/>
            <a:ext cx="4360489" cy="187744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20" b="0" dirty="0" err="1">
                <a:solidFill>
                  <a:srgbClr val="51706D"/>
                </a:solidFill>
                <a:latin typeface="Aptos"/>
              </a:rPr>
              <a:t>Controles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51706D"/>
                </a:solidFill>
                <a:latin typeface="Aptos"/>
              </a:rPr>
              <a:t>recomendados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 para </a:t>
            </a:r>
            <a:r>
              <a:rPr sz="1220" b="0" dirty="0" err="1">
                <a:solidFill>
                  <a:srgbClr val="51706D"/>
                </a:solidFill>
                <a:latin typeface="Aptos"/>
              </a:rPr>
              <a:t>una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51706D"/>
                </a:solidFill>
                <a:latin typeface="Aptos"/>
              </a:rPr>
              <a:t>arquitectura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 </a:t>
            </a:r>
            <a:r>
              <a:rPr lang="es-PE" sz="1220" b="0" dirty="0">
                <a:solidFill>
                  <a:srgbClr val="51706D"/>
                </a:solidFill>
                <a:latin typeface="Aptos"/>
              </a:rPr>
              <a:t>clínica </a:t>
            </a:r>
            <a:r>
              <a:rPr sz="1220" b="0" dirty="0" err="1">
                <a:solidFill>
                  <a:srgbClr val="51706D"/>
                </a:solidFill>
                <a:latin typeface="Aptos"/>
              </a:rPr>
              <a:t>en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 </a:t>
            </a:r>
            <a:r>
              <a:rPr sz="1220" b="0" dirty="0" err="1">
                <a:solidFill>
                  <a:srgbClr val="51706D"/>
                </a:solidFill>
                <a:latin typeface="Aptos"/>
              </a:rPr>
              <a:t>nube</a:t>
            </a:r>
            <a:r>
              <a:rPr sz="1220" b="0" dirty="0">
                <a:solidFill>
                  <a:srgbClr val="51706D"/>
                </a:solidFill>
                <a:latin typeface="Aptos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969817" cy="12926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lang="es-PE" sz="840" b="0" dirty="0" err="1">
                <a:solidFill>
                  <a:srgbClr val="51706D"/>
                </a:solidFill>
                <a:latin typeface="Aptos"/>
              </a:rPr>
              <a:t>Quiru</a:t>
            </a:r>
            <a:r>
              <a:rPr lang="es-PE" sz="840" b="0" dirty="0">
                <a:solidFill>
                  <a:srgbClr val="51706D"/>
                </a:solidFill>
                <a:latin typeface="Aptos"/>
              </a:rPr>
              <a:t> | Arquitectura</a:t>
            </a:r>
            <a:endParaRPr sz="840" b="0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06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06240" y="2331720"/>
            <a:ext cx="3703320" cy="1051560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Datos </a:t>
            </a:r>
            <a:r>
              <a:rPr lang="es-PE" sz="1500" b="1" dirty="0">
                <a:solidFill>
                  <a:srgbClr val="FFFFFF"/>
                </a:solidFill>
                <a:latin typeface="Aptos"/>
              </a:rPr>
              <a:t>clínico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s </a:t>
            </a:r>
            <a:r>
              <a:rPr sz="1500" b="1" dirty="0" err="1">
                <a:solidFill>
                  <a:srgbClr val="FFFFFF"/>
                </a:solidFill>
                <a:latin typeface="Aptos"/>
              </a:rPr>
              <a:t>Quiru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
</a:t>
            </a:r>
            <a:r>
              <a:rPr sz="1500" b="1" dirty="0" err="1">
                <a:solidFill>
                  <a:srgbClr val="FFFFFF"/>
                </a:solidFill>
                <a:latin typeface="Aptos"/>
              </a:rPr>
              <a:t>Pacientes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, </a:t>
            </a:r>
            <a:r>
              <a:rPr sz="1500" b="1" dirty="0" err="1">
                <a:solidFill>
                  <a:srgbClr val="FFFFFF"/>
                </a:solidFill>
                <a:latin typeface="Aptos"/>
              </a:rPr>
              <a:t>odontogramas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, </a:t>
            </a:r>
            <a:r>
              <a:rPr sz="1500" b="1" dirty="0" err="1">
                <a:solidFill>
                  <a:srgbClr val="FFFFFF"/>
                </a:solidFill>
                <a:latin typeface="Aptos"/>
              </a:rPr>
              <a:t>citas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, </a:t>
            </a:r>
            <a:r>
              <a:rPr sz="1500" b="1" dirty="0" err="1">
                <a:solidFill>
                  <a:srgbClr val="FFFFFF"/>
                </a:solidFill>
                <a:latin typeface="Aptos"/>
              </a:rPr>
              <a:t>archivos</a:t>
            </a:r>
            <a:endParaRPr sz="1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3063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15568" y="173736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1682495"/>
            <a:ext cx="2103120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Identidad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084831"/>
            <a:ext cx="2642616" cy="338328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Firebase Auth + roles de usuario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2029967"/>
            <a:ext cx="2075689" cy="822961"/>
          </a:xfrm>
          <a:prstGeom prst="line">
            <a:avLst/>
          </a:prstGeom>
          <a:ln w="15875">
            <a:solidFill>
              <a:srgbClr val="22C7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83879" y="1554480"/>
            <a:ext cx="30632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85048" y="173736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6840" y="1682495"/>
            <a:ext cx="2103120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Reglas de acceso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084831"/>
            <a:ext cx="2555187" cy="208006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Firestore</a:t>
            </a:r>
            <a:r>
              <a:rPr dirty="0"/>
              <a:t>/Storage Rules </a:t>
            </a:r>
            <a:r>
              <a:rPr dirty="0" err="1"/>
              <a:t>por</a:t>
            </a:r>
            <a:r>
              <a:rPr dirty="0"/>
              <a:t> </a:t>
            </a:r>
            <a:r>
              <a:rPr lang="es-PE" dirty="0"/>
              <a:t>Odontólogo</a:t>
            </a:r>
            <a:r>
              <a:rPr dirty="0"/>
              <a:t> y </a:t>
            </a:r>
            <a:r>
              <a:rPr dirty="0" err="1"/>
              <a:t>rol</a:t>
            </a:r>
            <a:endParaRPr dirty="0"/>
          </a:p>
        </p:txBody>
      </p:sp>
      <p:cxnSp>
        <p:nvCxnSpPr>
          <p:cNvPr id="18" name="Connector 17"/>
          <p:cNvCxnSpPr/>
          <p:nvPr/>
        </p:nvCxnSpPr>
        <p:spPr>
          <a:xfrm flipH="1">
            <a:off x="6053328" y="2029967"/>
            <a:ext cx="2130551" cy="822961"/>
          </a:xfrm>
          <a:prstGeom prst="line">
            <a:avLst/>
          </a:prstGeom>
          <a:ln w="15875">
            <a:solidFill>
              <a:srgbClr val="22C7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4251960"/>
            <a:ext cx="3063240" cy="96012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5568" y="4434840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37360" y="4379976"/>
            <a:ext cx="2103120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Privacidad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782312"/>
            <a:ext cx="3000821" cy="208006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Consentimientos</a:t>
            </a:r>
            <a:r>
              <a:rPr dirty="0"/>
              <a:t>, </a:t>
            </a:r>
            <a:r>
              <a:rPr dirty="0" err="1"/>
              <a:t>retenci</a:t>
            </a:r>
            <a:r>
              <a:rPr lang="es-PE" dirty="0" err="1"/>
              <a:t>ó</a:t>
            </a:r>
            <a:r>
              <a:rPr dirty="0"/>
              <a:t>n y </a:t>
            </a:r>
            <a:r>
              <a:rPr dirty="0" err="1"/>
              <a:t>minimizaci</a:t>
            </a:r>
            <a:r>
              <a:rPr lang="es-PE" dirty="0" err="1"/>
              <a:t>ó</a:t>
            </a:r>
            <a:r>
              <a:rPr dirty="0"/>
              <a:t>n de </a:t>
            </a:r>
            <a:r>
              <a:rPr dirty="0" err="1"/>
              <a:t>datos</a:t>
            </a:r>
            <a:endParaRPr dirty="0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977639" y="2852928"/>
            <a:ext cx="2075689" cy="1874520"/>
          </a:xfrm>
          <a:prstGeom prst="line">
            <a:avLst/>
          </a:prstGeom>
          <a:ln w="15875">
            <a:solidFill>
              <a:srgbClr val="FF8D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83879" y="4251960"/>
            <a:ext cx="3063240" cy="960120"/>
          </a:xfrm>
          <a:prstGeom prst="roundRect">
            <a:avLst/>
          </a:prstGeom>
          <a:solidFill>
            <a:srgbClr val="E2EE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85048" y="4434840"/>
            <a:ext cx="502920" cy="64008"/>
          </a:xfrm>
          <a:prstGeom prst="roundRect">
            <a:avLst/>
          </a:prstGeom>
          <a:solidFill>
            <a:srgbClr val="376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6840" y="4379976"/>
            <a:ext cx="815929" cy="193899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 dirty="0" err="1">
                <a:solidFill>
                  <a:srgbClr val="123C3A"/>
                </a:solidFill>
                <a:latin typeface="Aptos"/>
              </a:rPr>
              <a:t>Operaci</a:t>
            </a:r>
            <a:r>
              <a:rPr lang="es-PE" sz="1260" b="1" dirty="0" err="1">
                <a:solidFill>
                  <a:srgbClr val="123C3A"/>
                </a:solidFill>
                <a:latin typeface="Aptos"/>
              </a:rPr>
              <a:t>ó</a:t>
            </a:r>
            <a:r>
              <a:rPr sz="1260" b="1" dirty="0">
                <a:solidFill>
                  <a:srgbClr val="123C3A"/>
                </a:solidFill>
                <a:latin typeface="Aptos"/>
              </a:rPr>
              <a:t>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4782312"/>
            <a:ext cx="2642616" cy="338328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Logs, monitoreo de errores y backups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6053328" y="2852928"/>
            <a:ext cx="2130551" cy="1874520"/>
          </a:xfrm>
          <a:prstGeom prst="line">
            <a:avLst/>
          </a:prstGeom>
          <a:ln w="15875">
            <a:solidFill>
              <a:srgbClr val="376B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43400" y="5074920"/>
            <a:ext cx="3063240" cy="960120"/>
          </a:xfrm>
          <a:prstGeom prst="roundRect">
            <a:avLst/>
          </a:prstGeom>
          <a:solidFill>
            <a:srgbClr val="FFF6DA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544568" y="5257800"/>
            <a:ext cx="502920" cy="64008"/>
          </a:xfrm>
          <a:prstGeom prst="roundRect">
            <a:avLst/>
          </a:prstGeom>
          <a:solidFill>
            <a:srgbClr val="F6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66360" y="5202936"/>
            <a:ext cx="1088439" cy="193899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lang="es-PE" sz="1260" b="1" dirty="0">
                <a:solidFill>
                  <a:srgbClr val="123C3A"/>
                </a:solidFill>
                <a:latin typeface="Aptos"/>
              </a:rPr>
              <a:t>Configuración</a:t>
            </a:r>
            <a:endParaRPr sz="1260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62856" y="5605272"/>
            <a:ext cx="2642616" cy="338328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t>Variables de entorno para claves e IDs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343400" y="2852928"/>
            <a:ext cx="1709928" cy="2697480"/>
          </a:xfrm>
          <a:prstGeom prst="line">
            <a:avLst/>
          </a:prstGeom>
          <a:ln w="15875">
            <a:solidFill>
              <a:srgbClr val="F6BF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057400" y="6309360"/>
            <a:ext cx="8046720" cy="292608"/>
          </a:xfrm>
          <a:prstGeom prst="roundRect">
            <a:avLst/>
          </a:prstGeom>
          <a:solidFill>
            <a:srgbClr val="ECF8F4"/>
          </a:solidFill>
          <a:ln w="13335">
            <a:solidFill>
              <a:srgbClr val="EC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69" b="1" dirty="0">
                <a:solidFill>
                  <a:srgbClr val="123C3A"/>
                </a:solidFill>
                <a:latin typeface="Aptos"/>
              </a:rPr>
              <a:t>la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automatizaci</a:t>
            </a:r>
            <a:r>
              <a:rPr lang="es-PE" sz="869" b="1" dirty="0" err="1">
                <a:solidFill>
                  <a:srgbClr val="123C3A"/>
                </a:solidFill>
                <a:latin typeface="Aptos"/>
              </a:rPr>
              <a:t>ó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n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por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voz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debe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crecer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acompa</a:t>
            </a:r>
            <a:r>
              <a:rPr lang="es-PE" sz="869" b="1" dirty="0">
                <a:solidFill>
                  <a:srgbClr val="123C3A"/>
                </a:solidFill>
                <a:latin typeface="Aptos"/>
              </a:rPr>
              <a:t>ñ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ada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 de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seguridad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,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trazabilidad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 y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reglas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 de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acceso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 </a:t>
            </a:r>
            <a:r>
              <a:rPr sz="869" b="1" dirty="0" err="1">
                <a:solidFill>
                  <a:srgbClr val="123C3A"/>
                </a:solidFill>
                <a:latin typeface="Aptos"/>
              </a:rPr>
              <a:t>verificables</a:t>
            </a:r>
            <a:r>
              <a:rPr sz="869" b="1" dirty="0">
                <a:solidFill>
                  <a:srgbClr val="123C3A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8046720" cy="5029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2900" b="1">
                <a:solidFill>
                  <a:srgbClr val="123C3A"/>
                </a:solidFill>
                <a:latin typeface="Aptos Display"/>
              </a:rPr>
              <a:t>Modelo operativo ejecutivo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969817" cy="12926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lang="es-PE" sz="840" b="0" dirty="0" err="1">
                <a:solidFill>
                  <a:srgbClr val="51706D"/>
                </a:solidFill>
                <a:latin typeface="Aptos"/>
              </a:rPr>
              <a:t>Quiru</a:t>
            </a:r>
            <a:r>
              <a:rPr lang="es-PE" sz="840" b="0" dirty="0">
                <a:solidFill>
                  <a:srgbClr val="51706D"/>
                </a:solidFill>
                <a:latin typeface="Aptos"/>
              </a:rPr>
              <a:t> | Arquitectura</a:t>
            </a:r>
            <a:endParaRPr sz="840" b="0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91640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2688" y="1874520"/>
            <a:ext cx="502920" cy="64008"/>
          </a:xfrm>
          <a:prstGeom prst="roundRect">
            <a:avLst/>
          </a:prstGeom>
          <a:solidFill>
            <a:srgbClr val="FF8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819656"/>
            <a:ext cx="2377439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Experiencia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221992"/>
            <a:ext cx="2172069" cy="854336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El </a:t>
            </a:r>
            <a:r>
              <a:rPr lang="es-PE" dirty="0"/>
              <a:t>Odontólogo</a:t>
            </a:r>
            <a:r>
              <a:rPr dirty="0"/>
              <a:t> reduce </a:t>
            </a:r>
            <a:r>
              <a:rPr dirty="0" err="1"/>
              <a:t>fricci</a:t>
            </a:r>
            <a:r>
              <a:rPr lang="es-PE" dirty="0" err="1"/>
              <a:t>ó</a:t>
            </a:r>
            <a:r>
              <a:rPr dirty="0"/>
              <a:t>n: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dicta </a:t>
            </a:r>
            <a:r>
              <a:rPr dirty="0" err="1"/>
              <a:t>hallazgos</a:t>
            </a:r>
            <a:r>
              <a:rPr dirty="0"/>
              <a:t> </a:t>
            </a:r>
            <a:r>
              <a:rPr dirty="0" err="1"/>
              <a:t>mientras</a:t>
            </a:r>
            <a:r>
              <a:rPr dirty="0"/>
              <a:t> </a:t>
            </a:r>
            <a:r>
              <a:rPr dirty="0" err="1"/>
              <a:t>atiende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El </a:t>
            </a:r>
            <a:r>
              <a:rPr dirty="0" err="1"/>
              <a:t>paciente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conectado</a:t>
            </a:r>
            <a:r>
              <a:rPr dirty="0"/>
              <a:t> a </a:t>
            </a:r>
            <a:r>
              <a:rPr dirty="0" err="1"/>
              <a:t>citas</a:t>
            </a:r>
            <a:r>
              <a:rPr dirty="0"/>
              <a:t>,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lang="es-PE" dirty="0"/>
              <a:t>Admisión</a:t>
            </a:r>
            <a:r>
              <a:rPr dirty="0"/>
              <a:t> y </a:t>
            </a:r>
            <a:r>
              <a:rPr dirty="0" err="1"/>
              <a:t>documentos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36007" y="1874520"/>
            <a:ext cx="50292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800" y="1819656"/>
            <a:ext cx="2377439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221992"/>
            <a:ext cx="2941511" cy="854336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quiru_app</a:t>
            </a:r>
            <a:r>
              <a:rPr dirty="0"/>
              <a:t> </a:t>
            </a:r>
            <a:r>
              <a:rPr dirty="0" err="1"/>
              <a:t>concentra</a:t>
            </a:r>
            <a:r>
              <a:rPr dirty="0"/>
              <a:t> la </a:t>
            </a:r>
            <a:r>
              <a:rPr dirty="0" err="1"/>
              <a:t>interfaz</a:t>
            </a:r>
            <a:r>
              <a:rPr dirty="0"/>
              <a:t> y Firebase </a:t>
            </a:r>
            <a:r>
              <a:rPr dirty="0" err="1"/>
              <a:t>sostiene</a:t>
            </a:r>
            <a:r>
              <a:rPr dirty="0"/>
              <a:t>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identidad</a:t>
            </a:r>
            <a:r>
              <a:rPr dirty="0"/>
              <a:t>, </a:t>
            </a:r>
            <a:r>
              <a:rPr dirty="0" err="1"/>
              <a:t>datos</a:t>
            </a:r>
            <a:r>
              <a:rPr dirty="0"/>
              <a:t> y </a:t>
            </a:r>
            <a:r>
              <a:rPr dirty="0" err="1"/>
              <a:t>archivos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Google Cloud NLP </a:t>
            </a:r>
            <a:r>
              <a:rPr dirty="0" err="1"/>
              <a:t>ampl</a:t>
            </a:r>
            <a:r>
              <a:rPr lang="es-PE" dirty="0"/>
              <a:t>í</a:t>
            </a:r>
            <a:r>
              <a:rPr dirty="0"/>
              <a:t>a la </a:t>
            </a:r>
            <a:r>
              <a:rPr dirty="0" err="1"/>
              <a:t>tolerancia</a:t>
            </a:r>
            <a:r>
              <a:rPr dirty="0"/>
              <a:t> a </a:t>
            </a:r>
            <a:r>
              <a:rPr dirty="0" err="1"/>
              <a:t>errores</a:t>
            </a:r>
            <a:r>
              <a:rPr dirty="0"/>
              <a:t>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del </a:t>
            </a:r>
            <a:r>
              <a:rPr dirty="0" err="1"/>
              <a:t>dictado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337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39328" y="1874520"/>
            <a:ext cx="502920" cy="64008"/>
          </a:xfrm>
          <a:prstGeom prst="roundRect">
            <a:avLst/>
          </a:prstGeom>
          <a:solidFill>
            <a:srgbClr val="376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819656"/>
            <a:ext cx="2377439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60" b="1">
                <a:solidFill>
                  <a:srgbClr val="123C3A"/>
                </a:solidFill>
                <a:latin typeface="Aptos"/>
              </a:rPr>
              <a:t>Gobierno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221992"/>
            <a:ext cx="2835713" cy="692754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La </a:t>
            </a: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cerrar</a:t>
            </a:r>
            <a:r>
              <a:rPr dirty="0"/>
              <a:t> con </a:t>
            </a:r>
            <a:r>
              <a:rPr dirty="0" err="1"/>
              <a:t>reglas</a:t>
            </a:r>
            <a:r>
              <a:rPr dirty="0"/>
              <a:t>, auditor</a:t>
            </a:r>
            <a:r>
              <a:rPr lang="es-PE" dirty="0"/>
              <a:t>í</a:t>
            </a:r>
            <a:r>
              <a:rPr dirty="0"/>
              <a:t>a, </a:t>
            </a: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 err="1"/>
              <a:t>monitoreo</a:t>
            </a:r>
            <a:r>
              <a:rPr dirty="0"/>
              <a:t> y </a:t>
            </a:r>
            <a:r>
              <a:rPr dirty="0" err="1"/>
              <a:t>pruebas</a:t>
            </a:r>
            <a:r>
              <a:rPr dirty="0"/>
              <a:t> de </a:t>
            </a:r>
            <a:r>
              <a:rPr dirty="0" err="1"/>
              <a:t>flujos</a:t>
            </a:r>
            <a:r>
              <a:rPr dirty="0"/>
              <a:t> </a:t>
            </a:r>
            <a:r>
              <a:rPr dirty="0" err="1"/>
              <a:t>cr</a:t>
            </a:r>
            <a:r>
              <a:rPr lang="es-PE" dirty="0"/>
              <a:t>í</a:t>
            </a:r>
            <a:r>
              <a:rPr dirty="0" err="1"/>
              <a:t>ticos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endParaRPr lang="es-PE" dirty="0"/>
          </a:p>
          <a:p>
            <a:pPr>
              <a:lnSpc>
                <a:spcPct val="105000"/>
              </a:lnSpc>
              <a:defRPr sz="1000" b="0">
                <a:solidFill>
                  <a:srgbClr val="51706D"/>
                </a:solidFill>
                <a:latin typeface="Aptos"/>
              </a:defRPr>
            </a:pPr>
            <a:r>
              <a:rPr dirty="0"/>
              <a:t>Esto protege </a:t>
            </a:r>
            <a:r>
              <a:rPr dirty="0" err="1"/>
              <a:t>calidad</a:t>
            </a:r>
            <a:r>
              <a:rPr dirty="0"/>
              <a:t> </a:t>
            </a:r>
            <a:r>
              <a:rPr lang="es-PE" dirty="0"/>
              <a:t>clínica </a:t>
            </a:r>
            <a:r>
              <a:rPr dirty="0"/>
              <a:t>y </a:t>
            </a:r>
            <a:r>
              <a:rPr dirty="0" err="1"/>
              <a:t>escalabilidad</a:t>
            </a:r>
            <a:r>
              <a:rPr dirty="0"/>
              <a:t>.</a:t>
            </a:r>
          </a:p>
        </p:txBody>
      </p:sp>
      <p:sp>
        <p:nvSpPr>
          <p:cNvPr id="29" name="Oval 28"/>
          <p:cNvSpPr/>
          <p:nvPr/>
        </p:nvSpPr>
        <p:spPr>
          <a:xfrm>
            <a:off x="4102606" y="4118776"/>
            <a:ext cx="438912" cy="438912"/>
          </a:xfrm>
          <a:prstGeom prst="ellipse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928870" y="4575976"/>
            <a:ext cx="786384" cy="62179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36630" y="5261776"/>
            <a:ext cx="798295" cy="166199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lang="es-PE" sz="1080" b="1" dirty="0">
                <a:solidFill>
                  <a:srgbClr val="123C3A"/>
                </a:solidFill>
                <a:latin typeface="Aptos"/>
              </a:rPr>
              <a:t>Odontólogo</a:t>
            </a:r>
            <a:endParaRPr sz="1080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89958" y="5517808"/>
            <a:ext cx="1691640" cy="256032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880" b="0">
                <a:solidFill>
                  <a:srgbClr val="51706D"/>
                </a:solidFill>
                <a:latin typeface="Aptos"/>
              </a:rPr>
              <a:t>voz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56048" y="4482747"/>
            <a:ext cx="1051560" cy="420624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quiru_app</a:t>
            </a:r>
          </a:p>
        </p:txBody>
      </p:sp>
      <p:sp>
        <p:nvSpPr>
          <p:cNvPr id="34" name="Cloud 33"/>
          <p:cNvSpPr/>
          <p:nvPr/>
        </p:nvSpPr>
        <p:spPr>
          <a:xfrm>
            <a:off x="6641594" y="4361688"/>
            <a:ext cx="868680" cy="685800"/>
          </a:xfrm>
          <a:prstGeom prst="cloud">
            <a:avLst/>
          </a:prstGeom>
          <a:solidFill>
            <a:srgbClr val="DCFBF3"/>
          </a:solidFill>
          <a:ln w="15240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70194" y="4617720"/>
            <a:ext cx="411479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1240" b="1">
                <a:solidFill>
                  <a:srgbClr val="123C3A"/>
                </a:solidFill>
                <a:latin typeface="Aptos"/>
              </a:rPr>
              <a:t>Cloud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1634" y="5047488"/>
            <a:ext cx="228600" cy="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 algn="ctr">
              <a:lnSpc>
                <a:spcPct val="105000"/>
              </a:lnSpc>
              <a:defRPr sz="919" b="0">
                <a:solidFill>
                  <a:srgbClr val="51706D"/>
                </a:solidFill>
                <a:latin typeface="Aptos"/>
              </a:defRPr>
            </a:pPr>
            <a:r>
              <a:rPr dirty="0"/>
              <a:t>Firebase + NLP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568950" y="4630840"/>
            <a:ext cx="32004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ght Arrow 37"/>
          <p:cNvSpPr/>
          <p:nvPr/>
        </p:nvSpPr>
        <p:spPr>
          <a:xfrm>
            <a:off x="6144768" y="4662049"/>
            <a:ext cx="27432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5179238" cy="44627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2900" b="1" dirty="0" err="1">
                <a:solidFill>
                  <a:srgbClr val="123C3A"/>
                </a:solidFill>
                <a:latin typeface="Aptos Display"/>
              </a:rPr>
              <a:t>Agente</a:t>
            </a:r>
            <a:r>
              <a:rPr sz="2900" b="1" dirty="0">
                <a:solidFill>
                  <a:srgbClr val="123C3A"/>
                </a:solidFill>
                <a:latin typeface="Aptos Display"/>
              </a:rPr>
              <a:t> IA de plan de </a:t>
            </a:r>
            <a:r>
              <a:rPr sz="2900" b="1" dirty="0" err="1">
                <a:solidFill>
                  <a:srgbClr val="123C3A"/>
                </a:solidFill>
                <a:latin typeface="Aptos Display"/>
              </a:rPr>
              <a:t>tratamiento</a:t>
            </a:r>
            <a:endParaRPr sz="2900" b="1" dirty="0">
              <a:solidFill>
                <a:srgbClr val="123C3A"/>
              </a:solidFill>
              <a:latin typeface="Aptos Display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85216" y="1207008"/>
            <a:ext cx="1005840" cy="64008"/>
          </a:xfrm>
          <a:prstGeom prst="roundRect">
            <a:avLst/>
          </a:prstGeom>
          <a:solidFill>
            <a:srgbClr val="22C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969817" cy="12926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lang="es-PE" sz="840" b="0" dirty="0" err="1">
                <a:solidFill>
                  <a:srgbClr val="51706D"/>
                </a:solidFill>
                <a:latin typeface="Aptos"/>
              </a:rPr>
              <a:t>Quiru</a:t>
            </a:r>
            <a:r>
              <a:rPr lang="es-PE" sz="840" b="0" dirty="0">
                <a:solidFill>
                  <a:srgbClr val="51706D"/>
                </a:solidFill>
                <a:latin typeface="Aptos"/>
              </a:rPr>
              <a:t> | Arquitectura</a:t>
            </a:r>
            <a:endParaRPr sz="840" b="0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r"/>
            <a:r>
              <a:rPr sz="919" b="1">
                <a:solidFill>
                  <a:srgbClr val="15957F"/>
                </a:solidFill>
                <a:latin typeface="Aptos"/>
              </a:rPr>
              <a:t>08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92608"/>
            <a:ext cx="1508760" cy="14786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1627632"/>
            <a:ext cx="1920240" cy="384048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019" b="1" dirty="0">
                <a:solidFill>
                  <a:srgbClr val="FFFFFF"/>
                </a:solidFill>
                <a:latin typeface="Aptos"/>
              </a:rPr>
              <a:t>Entradas cl</a:t>
            </a:r>
            <a:r>
              <a:rPr lang="es-PE" sz="1019" b="1" dirty="0">
                <a:solidFill>
                  <a:srgbClr val="FFFFFF"/>
                </a:solidFill>
                <a:latin typeface="Aptos"/>
              </a:rPr>
              <a:t>í</a:t>
            </a:r>
            <a:r>
              <a:rPr sz="1019" b="1" dirty="0" err="1">
                <a:solidFill>
                  <a:srgbClr val="FFFFFF"/>
                </a:solidFill>
                <a:latin typeface="Aptos"/>
              </a:rPr>
              <a:t>nicas</a:t>
            </a:r>
            <a:endParaRPr sz="1019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Odontograma
y hallazgos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68880" y="2404872"/>
            <a:ext cx="50292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97180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s-PE" sz="860" b="1" dirty="0">
                <a:solidFill>
                  <a:srgbClr val="123C3A"/>
                </a:solidFill>
                <a:latin typeface="Aptos"/>
              </a:rPr>
              <a:t>Admisión</a:t>
            </a:r>
            <a:r>
              <a:rPr sz="860" b="1" dirty="0">
                <a:solidFill>
                  <a:srgbClr val="123C3A"/>
                </a:solidFill>
                <a:latin typeface="Aptos"/>
              </a:rPr>
              <a:t> e
</a:t>
            </a:r>
            <a:r>
              <a:rPr sz="860" b="1" dirty="0" err="1">
                <a:solidFill>
                  <a:srgbClr val="123C3A"/>
                </a:solidFill>
                <a:latin typeface="Aptos"/>
              </a:rPr>
              <a:t>historia</a:t>
            </a:r>
            <a:r>
              <a:rPr sz="860" b="1" dirty="0">
                <a:solidFill>
                  <a:srgbClr val="123C3A"/>
                </a:solidFill>
                <a:latin typeface="Aptos"/>
              </a:rPr>
              <a:t> cl</a:t>
            </a:r>
            <a:r>
              <a:rPr lang="es-PE" sz="860" b="1" dirty="0">
                <a:solidFill>
                  <a:srgbClr val="123C3A"/>
                </a:solidFill>
                <a:latin typeface="Aptos"/>
              </a:rPr>
              <a:t>í</a:t>
            </a:r>
            <a:r>
              <a:rPr sz="860" b="1" dirty="0" err="1">
                <a:solidFill>
                  <a:srgbClr val="123C3A"/>
                </a:solidFill>
                <a:latin typeface="Aptos"/>
              </a:rPr>
              <a:t>nica</a:t>
            </a:r>
            <a:endParaRPr sz="860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468880" y="3136392"/>
            <a:ext cx="50292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CIE10 /
diccionarios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68880" y="3867911"/>
            <a:ext cx="50292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Lista de precios
y tratamientos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68880" y="4599431"/>
            <a:ext cx="502920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063240" y="2468880"/>
            <a:ext cx="2606040" cy="1143000"/>
          </a:xfrm>
          <a:prstGeom prst="roundRect">
            <a:avLst/>
          </a:prstGeom>
          <a:solidFill>
            <a:srgbClr val="6E56CF"/>
          </a:solidFill>
          <a:ln w="13335">
            <a:solidFill>
              <a:srgbClr val="6E5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Agente IA
Generador de plan de tratamiento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6323" y="3694176"/>
            <a:ext cx="1639873" cy="130805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850" b="1" dirty="0" err="1">
                <a:solidFill>
                  <a:srgbClr val="51706D"/>
                </a:solidFill>
                <a:latin typeface="Aptos"/>
              </a:rPr>
              <a:t>Funcionalidad</a:t>
            </a:r>
            <a:r>
              <a:rPr sz="850" b="1" dirty="0">
                <a:solidFill>
                  <a:srgbClr val="51706D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51706D"/>
                </a:solidFill>
                <a:latin typeface="Aptos"/>
              </a:rPr>
              <a:t>nueva</a:t>
            </a:r>
            <a:r>
              <a:rPr sz="850" b="1" dirty="0">
                <a:solidFill>
                  <a:srgbClr val="51706D"/>
                </a:solidFill>
                <a:latin typeface="Aptos"/>
              </a:rPr>
              <a:t> </a:t>
            </a:r>
            <a:r>
              <a:rPr sz="850" b="1" dirty="0" err="1">
                <a:solidFill>
                  <a:srgbClr val="51706D"/>
                </a:solidFill>
                <a:latin typeface="Aptos"/>
              </a:rPr>
              <a:t>en</a:t>
            </a:r>
            <a:r>
              <a:rPr sz="850" b="1" dirty="0">
                <a:solidFill>
                  <a:srgbClr val="51706D"/>
                </a:solidFill>
                <a:latin typeface="Aptos"/>
              </a:rPr>
              <a:t> an</a:t>
            </a:r>
            <a:r>
              <a:rPr lang="es-PE" sz="850" b="1" dirty="0">
                <a:solidFill>
                  <a:srgbClr val="51706D"/>
                </a:solidFill>
                <a:latin typeface="Aptos"/>
              </a:rPr>
              <a:t>á</a:t>
            </a:r>
            <a:r>
              <a:rPr sz="850" b="1" dirty="0" err="1">
                <a:solidFill>
                  <a:srgbClr val="51706D"/>
                </a:solidFill>
                <a:latin typeface="Aptos"/>
              </a:rPr>
              <a:t>lisis</a:t>
            </a:r>
            <a:endParaRPr sz="850" b="1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19" name="Cloud 18"/>
          <p:cNvSpPr/>
          <p:nvPr/>
        </p:nvSpPr>
        <p:spPr>
          <a:xfrm>
            <a:off x="3246120" y="4370832"/>
            <a:ext cx="2148840" cy="1143000"/>
          </a:xfrm>
          <a:prstGeom prst="cloud">
            <a:avLst/>
          </a:prstGeom>
          <a:solidFill>
            <a:srgbClr val="E2EEFF"/>
          </a:solidFill>
          <a:ln w="15240">
            <a:solidFill>
              <a:srgbClr val="376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4626864"/>
            <a:ext cx="1691640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1220" b="1">
                <a:solidFill>
                  <a:srgbClr val="123C3A"/>
                </a:solidFill>
                <a:latin typeface="Aptos"/>
              </a:rPr>
              <a:t>Google Cloud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5489" y="4865370"/>
            <a:ext cx="1210267" cy="479298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 algn="ctr">
              <a:lnSpc>
                <a:spcPct val="104000"/>
              </a:lnSpc>
              <a:defRPr sz="900">
                <a:solidFill>
                  <a:srgbClr val="51706D"/>
                </a:solidFill>
                <a:latin typeface="Aptos"/>
              </a:defRPr>
            </a:pPr>
            <a:r>
              <a:rPr dirty="0"/>
              <a:t>ML / NLP</a:t>
            </a:r>
          </a:p>
          <a:p>
            <a:pPr algn="ctr">
              <a:lnSpc>
                <a:spcPct val="104000"/>
              </a:lnSpc>
              <a:defRPr sz="900">
                <a:solidFill>
                  <a:srgbClr val="51706D"/>
                </a:solidFill>
                <a:latin typeface="Aptos"/>
              </a:defRPr>
            </a:pPr>
            <a:r>
              <a:rPr lang="es-PE" dirty="0"/>
              <a:t>normalización</a:t>
            </a:r>
            <a:endParaRPr dirty="0"/>
          </a:p>
          <a:p>
            <a:pPr algn="ctr">
              <a:lnSpc>
                <a:spcPct val="104000"/>
              </a:lnSpc>
              <a:defRPr sz="900">
                <a:solidFill>
                  <a:srgbClr val="51706D"/>
                </a:solidFill>
                <a:latin typeface="Aptos"/>
              </a:defRPr>
            </a:pPr>
            <a:r>
              <a:rPr dirty="0" err="1"/>
              <a:t>razonamiento</a:t>
            </a:r>
            <a:r>
              <a:rPr dirty="0"/>
              <a:t> </a:t>
            </a:r>
            <a:r>
              <a:rPr dirty="0" err="1"/>
              <a:t>asistido</a:t>
            </a:r>
            <a:endParaRPr dirty="0"/>
          </a:p>
        </p:txBody>
      </p:sp>
      <p:cxnSp>
        <p:nvCxnSpPr>
          <p:cNvPr id="22" name="Connector 21"/>
          <p:cNvCxnSpPr/>
          <p:nvPr/>
        </p:nvCxnSpPr>
        <p:spPr>
          <a:xfrm>
            <a:off x="4160520" y="3657600"/>
            <a:ext cx="0" cy="749808"/>
          </a:xfrm>
          <a:prstGeom prst="line">
            <a:avLst/>
          </a:prstGeom>
          <a:ln w="17780">
            <a:solidFill>
              <a:srgbClr val="376B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2487168"/>
            <a:ext cx="2148840" cy="960120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s-PE" sz="1200" b="1" dirty="0">
                <a:solidFill>
                  <a:srgbClr val="123C3A"/>
                </a:solidFill>
                <a:latin typeface="Aptos"/>
              </a:rPr>
              <a:t>Odontólogo</a:t>
            </a:r>
            <a:r>
              <a:rPr sz="1200" b="1" dirty="0">
                <a:solidFill>
                  <a:srgbClr val="123C3A"/>
                </a:solidFill>
                <a:latin typeface="Aptos"/>
              </a:rPr>
              <a:t>
</a:t>
            </a:r>
            <a:r>
              <a:rPr sz="1200" b="1" dirty="0" err="1">
                <a:solidFill>
                  <a:srgbClr val="123C3A"/>
                </a:solidFill>
                <a:latin typeface="Aptos"/>
              </a:rPr>
              <a:t>valida</a:t>
            </a:r>
            <a:r>
              <a:rPr sz="1200" b="1" dirty="0">
                <a:solidFill>
                  <a:srgbClr val="123C3A"/>
                </a:solidFill>
                <a:latin typeface="Aptos"/>
              </a:rPr>
              <a:t>, </a:t>
            </a:r>
            <a:r>
              <a:rPr sz="1200" b="1" dirty="0" err="1">
                <a:solidFill>
                  <a:srgbClr val="123C3A"/>
                </a:solidFill>
                <a:latin typeface="Aptos"/>
              </a:rPr>
              <a:t>edita</a:t>
            </a:r>
            <a:r>
              <a:rPr sz="1200" b="1" dirty="0">
                <a:solidFill>
                  <a:srgbClr val="123C3A"/>
                </a:solidFill>
                <a:latin typeface="Aptos"/>
              </a:rPr>
              <a:t> y </a:t>
            </a:r>
            <a:r>
              <a:rPr sz="1200" b="1" dirty="0" err="1">
                <a:solidFill>
                  <a:srgbClr val="123C3A"/>
                </a:solidFill>
                <a:latin typeface="Aptos"/>
              </a:rPr>
              <a:t>aprueba</a:t>
            </a:r>
            <a:endParaRPr sz="1200" b="1" dirty="0">
              <a:solidFill>
                <a:srgbClr val="123C3A"/>
              </a:solidFill>
              <a:latin typeface="Aptos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5669280" y="2953512"/>
            <a:ext cx="713232" cy="164592"/>
          </a:xfrm>
          <a:prstGeom prst="rightArrow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96128" y="2724912"/>
            <a:ext cx="941832" cy="201168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819" b="0">
                <a:solidFill>
                  <a:srgbClr val="51706D"/>
                </a:solidFill>
                <a:latin typeface="Aptos"/>
              </a:rPr>
              <a:t>propuesta IA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7086600" y="3529584"/>
            <a:ext cx="713232" cy="164592"/>
          </a:xfrm>
          <a:prstGeom prst="lef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84415" y="3749039"/>
            <a:ext cx="799898" cy="12606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pPr algn="ctr"/>
            <a:r>
              <a:rPr sz="819" b="0" dirty="0">
                <a:solidFill>
                  <a:srgbClr val="51706D"/>
                </a:solidFill>
                <a:latin typeface="Aptos"/>
              </a:rPr>
              <a:t>feedback </a:t>
            </a:r>
            <a:r>
              <a:rPr lang="es-PE" sz="819" b="0" dirty="0">
                <a:solidFill>
                  <a:srgbClr val="51706D"/>
                </a:solidFill>
                <a:latin typeface="Aptos"/>
              </a:rPr>
              <a:t>clínico</a:t>
            </a:r>
            <a:endParaRPr sz="819" b="0" dirty="0">
              <a:solidFill>
                <a:srgbClr val="51706D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144000" y="1627632"/>
            <a:ext cx="1920240" cy="384048"/>
          </a:xfrm>
          <a:prstGeom prst="roundRect">
            <a:avLst/>
          </a:prstGeom>
          <a:solidFill>
            <a:srgbClr val="15957F"/>
          </a:solidFill>
          <a:ln w="13335">
            <a:solidFill>
              <a:srgbClr val="159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Salidas del agente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549640" y="2404872"/>
            <a:ext cx="621792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235440" y="224028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Plan sugerido
por fases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549640" y="3136392"/>
            <a:ext cx="621792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235440" y="297180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60" b="1" dirty="0" err="1">
                <a:solidFill>
                  <a:srgbClr val="123C3A"/>
                </a:solidFill>
                <a:latin typeface="Aptos"/>
              </a:rPr>
              <a:t>Prioridad</a:t>
            </a:r>
            <a:r>
              <a:rPr sz="860" b="1" dirty="0">
                <a:solidFill>
                  <a:srgbClr val="123C3A"/>
                </a:solidFill>
                <a:latin typeface="Aptos"/>
              </a:rPr>
              <a:t> y
</a:t>
            </a:r>
            <a:r>
              <a:rPr sz="860" b="1" dirty="0" err="1">
                <a:solidFill>
                  <a:srgbClr val="123C3A"/>
                </a:solidFill>
                <a:latin typeface="Aptos"/>
              </a:rPr>
              <a:t>justificaci</a:t>
            </a:r>
            <a:r>
              <a:rPr lang="es-PE" sz="860" b="1" dirty="0" err="1">
                <a:solidFill>
                  <a:srgbClr val="123C3A"/>
                </a:solidFill>
                <a:latin typeface="Aptos"/>
              </a:rPr>
              <a:t>ó</a:t>
            </a:r>
            <a:r>
              <a:rPr sz="860" b="1" dirty="0">
                <a:solidFill>
                  <a:srgbClr val="123C3A"/>
                </a:solidFill>
                <a:latin typeface="Aptos"/>
              </a:rPr>
              <a:t>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549640" y="3867911"/>
            <a:ext cx="621792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235440" y="370332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Costo estimado
y alternativas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549640" y="4599431"/>
            <a:ext cx="621792" cy="109728"/>
          </a:xfrm>
          <a:prstGeom prst="rightArrow">
            <a:avLst/>
          </a:prstGeom>
          <a:solidFill>
            <a:srgbClr val="159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235440" y="4434840"/>
            <a:ext cx="1691640" cy="47548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860" b="1">
                <a:solidFill>
                  <a:srgbClr val="123C3A"/>
                </a:solidFill>
                <a:latin typeface="Aptos"/>
              </a:rPr>
              <a:t>PDF / propuesta
para paciente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40680" y="4983480"/>
            <a:ext cx="3063240" cy="658368"/>
          </a:xfrm>
          <a:prstGeom prst="roundRect">
            <a:avLst/>
          </a:prstGeom>
          <a:solidFill>
            <a:srgbClr val="DCFBF3"/>
          </a:solidFill>
          <a:ln w="13335">
            <a:solidFill>
              <a:srgbClr val="22C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sz="1030" b="1" dirty="0">
                <a:solidFill>
                  <a:srgbClr val="123C3A"/>
                </a:solidFill>
                <a:latin typeface="Aptos"/>
              </a:rPr>
              <a:t>Firebase </a:t>
            </a:r>
            <a:r>
              <a:rPr sz="1030" b="1" dirty="0" err="1">
                <a:solidFill>
                  <a:srgbClr val="123C3A"/>
                </a:solidFill>
                <a:latin typeface="Aptos"/>
              </a:rPr>
              <a:t>Firestore</a:t>
            </a:r>
            <a:r>
              <a:rPr sz="1030" b="1" dirty="0">
                <a:solidFill>
                  <a:srgbClr val="123C3A"/>
                </a:solidFill>
                <a:latin typeface="Aptos"/>
              </a:rPr>
              <a:t>
planes + </a:t>
            </a:r>
            <a:r>
              <a:rPr sz="1030" b="1" dirty="0" err="1">
                <a:solidFill>
                  <a:srgbClr val="123C3A"/>
                </a:solidFill>
                <a:latin typeface="Aptos"/>
              </a:rPr>
              <a:t>trazabilidad</a:t>
            </a:r>
            <a:r>
              <a:rPr sz="1030" b="1" dirty="0">
                <a:solidFill>
                  <a:srgbClr val="123C3A"/>
                </a:solidFill>
                <a:latin typeface="Aptos"/>
              </a:rPr>
              <a:t> + auditor</a:t>
            </a:r>
            <a:r>
              <a:rPr lang="es-PE" sz="1030" b="1" dirty="0">
                <a:solidFill>
                  <a:srgbClr val="123C3A"/>
                </a:solidFill>
                <a:latin typeface="Aptos"/>
              </a:rPr>
              <a:t>í</a:t>
            </a:r>
            <a:r>
              <a:rPr sz="1030" b="1" dirty="0">
                <a:solidFill>
                  <a:srgbClr val="123C3A"/>
                </a:solidFill>
                <a:latin typeface="Aptos"/>
              </a:rPr>
              <a:t>a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6967728" y="3456432"/>
            <a:ext cx="484632" cy="1527048"/>
          </a:xfrm>
          <a:prstGeom prst="line">
            <a:avLst/>
          </a:prstGeom>
          <a:ln w="16510">
            <a:solidFill>
              <a:srgbClr val="1595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650992" y="3246120"/>
            <a:ext cx="795528" cy="1737360"/>
          </a:xfrm>
          <a:prstGeom prst="line">
            <a:avLst/>
          </a:prstGeom>
          <a:ln w="16510">
            <a:solidFill>
              <a:srgbClr val="6E56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77240" y="5779008"/>
            <a:ext cx="101498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D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78408" y="5961888"/>
            <a:ext cx="502920" cy="64008"/>
          </a:xfrm>
          <a:prstGeom prst="round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600200" y="5907024"/>
            <a:ext cx="9189719" cy="274320"/>
          </a:xfrm>
          <a:prstGeom prst="rect">
            <a:avLst/>
          </a:prstGeom>
          <a:noFill/>
        </p:spPr>
        <p:txBody>
          <a:bodyPr wrap="none" lIns="25400" tIns="0" rIns="25400" bIns="0" anchor="t">
            <a:spAutoFit/>
          </a:bodyPr>
          <a:lstStyle/>
          <a:p>
            <a:r>
              <a:rPr sz="1230" b="1">
                <a:solidFill>
                  <a:srgbClr val="123C3A"/>
                </a:solidFill>
                <a:latin typeface="Aptos"/>
              </a:rPr>
              <a:t>Regla de gobierno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14120" y="5815456"/>
            <a:ext cx="3672480" cy="51232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lnSpc>
                <a:spcPct val="104000"/>
              </a:lnSpc>
              <a:defRPr sz="969">
                <a:solidFill>
                  <a:srgbClr val="51706D"/>
                </a:solidFill>
                <a:latin typeface="Aptos"/>
              </a:defRPr>
            </a:pPr>
            <a:r>
              <a:rPr dirty="0"/>
              <a:t>El </a:t>
            </a:r>
            <a:r>
              <a:rPr dirty="0" err="1"/>
              <a:t>agente</a:t>
            </a:r>
            <a:r>
              <a:rPr dirty="0"/>
              <a:t> no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cerrar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 cl</a:t>
            </a:r>
            <a:r>
              <a:rPr lang="es-PE" dirty="0"/>
              <a:t>í</a:t>
            </a:r>
            <a:r>
              <a:rPr dirty="0" err="1"/>
              <a:t>nicas</a:t>
            </a:r>
            <a:r>
              <a:rPr dirty="0"/>
              <a:t> de forma </a:t>
            </a:r>
            <a:r>
              <a:rPr dirty="0" err="1"/>
              <a:t>autom</a:t>
            </a:r>
            <a:r>
              <a:rPr lang="es-PE" dirty="0"/>
              <a:t>í</a:t>
            </a:r>
            <a:r>
              <a:rPr dirty="0" err="1"/>
              <a:t>tica</a:t>
            </a:r>
            <a:r>
              <a:rPr dirty="0"/>
              <a:t>.</a:t>
            </a:r>
          </a:p>
          <a:p>
            <a:pPr>
              <a:lnSpc>
                <a:spcPct val="104000"/>
              </a:lnSpc>
              <a:defRPr sz="969">
                <a:solidFill>
                  <a:srgbClr val="51706D"/>
                </a:solidFill>
                <a:latin typeface="Aptos"/>
              </a:defRPr>
            </a:pPr>
            <a:r>
              <a:rPr dirty="0"/>
              <a:t>Debe </a:t>
            </a:r>
            <a:r>
              <a:rPr dirty="0" err="1"/>
              <a:t>generar</a:t>
            </a:r>
            <a:r>
              <a:rPr dirty="0"/>
              <a:t> </a:t>
            </a:r>
            <a:r>
              <a:rPr dirty="0" err="1"/>
              <a:t>recomendaciones</a:t>
            </a:r>
            <a:r>
              <a:rPr dirty="0"/>
              <a:t> </a:t>
            </a:r>
            <a:r>
              <a:rPr dirty="0" err="1"/>
              <a:t>explicables</a:t>
            </a:r>
            <a:r>
              <a:rPr dirty="0"/>
              <a:t>, </a:t>
            </a:r>
            <a:r>
              <a:rPr dirty="0" err="1"/>
              <a:t>editables</a:t>
            </a:r>
            <a:r>
              <a:rPr dirty="0"/>
              <a:t> y </a:t>
            </a:r>
            <a:r>
              <a:rPr dirty="0" err="1"/>
              <a:t>trazables</a:t>
            </a:r>
            <a:r>
              <a:rPr dirty="0"/>
              <a:t>.</a:t>
            </a:r>
          </a:p>
          <a:p>
            <a:pPr>
              <a:lnSpc>
                <a:spcPct val="104000"/>
              </a:lnSpc>
              <a:defRPr sz="969">
                <a:solidFill>
                  <a:srgbClr val="51706D"/>
                </a:solidFill>
                <a:latin typeface="Aptos"/>
              </a:defRPr>
            </a:pPr>
            <a:r>
              <a:rPr dirty="0"/>
              <a:t>La </a:t>
            </a:r>
            <a:r>
              <a:rPr dirty="0" err="1"/>
              <a:t>aprobaci</a:t>
            </a:r>
            <a:r>
              <a:rPr lang="es-PE" dirty="0" err="1"/>
              <a:t>ó</a:t>
            </a:r>
            <a:r>
              <a:rPr dirty="0"/>
              <a:t>n final </a:t>
            </a:r>
            <a:r>
              <a:rPr dirty="0" err="1"/>
              <a:t>corresponde</a:t>
            </a:r>
            <a:r>
              <a:rPr dirty="0"/>
              <a:t> al </a:t>
            </a:r>
            <a:r>
              <a:rPr lang="es-PE" dirty="0"/>
              <a:t>Odontólogo</a:t>
            </a:r>
            <a:r>
              <a:rPr dirty="0"/>
              <a:t> </a:t>
            </a:r>
            <a:r>
              <a:rPr dirty="0" err="1"/>
              <a:t>responsable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</Words>
  <Application>Microsoft Office PowerPoint</Application>
  <PresentationFormat>Panorámica</PresentationFormat>
  <Paragraphs>222</Paragraphs>
  <Slides>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Quiru - Arquitectura ejecutiva gr?fica</dc:title>
  <dc:subject>Interconexiones entre cliente, odont?logo, quiru_app, Firebase, Google Cloud NLP y Annyang</dc:subject>
  <dc:creator>Codex</dc:creator>
  <cp:keywords/>
  <dc:description>Deck ejecutivo generado para mostrar arquitectura gr?fica e interconexiones principales.</dc:description>
  <cp:lastModifiedBy>Ramón Garcia Ayachi</cp:lastModifiedBy>
  <cp:revision>3</cp:revision>
  <dcterms:created xsi:type="dcterms:W3CDTF">2013-01-27T09:14:16Z</dcterms:created>
  <dcterms:modified xsi:type="dcterms:W3CDTF">2026-05-22T06:12:33Z</dcterms:modified>
  <cp:category/>
</cp:coreProperties>
</file>